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748"/>
    <p:restoredTop sz="94658"/>
  </p:normalViewPr>
  <p:slideViewPr>
    <p:cSldViewPr snapToGrid="0">
      <p:cViewPr>
        <p:scale>
          <a:sx n="100" d="100"/>
          <a:sy n="100" d="100"/>
        </p:scale>
        <p:origin x="2536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C9C6-1B6D-78C3-8EE4-B46403003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2DFD7-1510-F6DF-025F-8CD71B1E1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60E5-B29C-D096-5376-1E42AD41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3AB87-6161-B761-20D2-400A177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49A9C-C7CF-B7FF-C1DF-8479FA13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27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C6FD-130A-047C-E060-D432B33D2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EE1A-4BC8-CDD0-B467-6ECB2239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43A24-4F7A-1A3B-BF2B-026A1BD7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AF62B-CAFF-B55C-ED37-FB218F5D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B21EB-6D66-9CE6-9C80-4389C1FC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84ED-5D15-1B06-AF90-AFD82EE5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00A09-BACC-3D1E-C6FB-5AF440C9A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C23A8-392F-C2F0-C9C2-97E6C13A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0B69-CB2E-602C-FD68-49A01D646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5BA32-40BC-9C63-C647-D29FE29B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6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D9F6-1E53-D09D-87F0-1D83DD00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5F31A-1349-3B02-88BB-AC30AD211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38AF0-514F-D3D0-E2B9-DF62524EA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3DE66-D628-4582-AE95-395A1DC4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CBBE8-5891-402F-983E-A96C6317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7A2A-EDEF-59C7-0213-343FBD31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3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D177-804F-EC5F-5E34-F0B1228F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C2241-93FB-A7B5-632D-A8A58F3D6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47EEB-9CEA-F3A2-E5F4-9C94817CF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9470F-7824-2667-CBF9-8AFD3FB4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1847C-5856-3F9B-E6F7-3E4EFCEBA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6EEC7B-8D70-7E7E-213A-D9BA2F24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8DF33-C8AF-5A8F-09BC-C85EE8E6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7F9447-676C-4B68-8D21-043B960F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2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7252-98CF-7ECA-E81B-70EAE0BA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E9AFC-1354-444F-E924-E223055F2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DB0B4-6DB4-3872-D41C-6513B649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72FD6-3CAB-B1F6-B528-2EE62564B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9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8C412-DC69-2EAD-EF1D-62FE2F9F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521AE-8C9A-42C7-A3E7-81B25541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66688-F48C-A7C8-23C3-B53C5308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3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5E18-A120-91B9-B94C-7D38917F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9F0B3-2EB7-CAF0-F657-1C7E423B9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36CEA-ADF3-7581-2202-C93E5D130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261BB-CB8A-0648-2215-C3897DF5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88E6B-7D15-4B67-DC3A-86710C78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F0E8E-B7FB-29F2-EB20-9714C027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0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6AC6-40FE-ADBF-3D62-CC418E4C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79956-CF11-13E6-7D39-C7442E113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D129D-7664-54D5-732A-6D3A47D6C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754C0-DD8B-183F-E73C-63D11631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134F3-38CE-D82B-1D33-B9EAA919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785E9-4074-E1CE-A37D-B2F7E0C8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20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5E40-974F-94F4-AB29-A3A73B1D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CB30D-3B8E-30D9-1DE4-D8A2CF5B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28649-BD7F-2A57-93DF-2787E73BB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40546-3200-0745-63F3-A55A032E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57491-FFC1-31D4-553A-78220865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E6A5A-3B18-5CE1-9FF6-FC5412208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DE96-B1AB-BD4D-E445-35A3D6D2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7A973-47BB-F6C6-EA81-64E30393F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A1F12-360F-734E-F8A8-983BC6D2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DBD18-C74F-4A53-F750-3FA73A40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FFA7C-E7F4-5697-C589-BB5F9DD0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9B18-E010-6258-0ED5-687458008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1B85-22A5-8217-87FB-806311A1E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5CBDE-48E8-1644-AA41-3B685144A712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82194-BD96-A5BE-6499-ABA3D40A2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7C2B-67EA-9828-C780-AF1BC948D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699CC-B6E6-514F-9420-D0A04DD45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7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519188F-EB3C-2EA1-9B91-A96872826145}"/>
              </a:ext>
            </a:extLst>
          </p:cNvPr>
          <p:cNvGrpSpPr/>
          <p:nvPr/>
        </p:nvGrpSpPr>
        <p:grpSpPr>
          <a:xfrm>
            <a:off x="1143000" y="1174750"/>
            <a:ext cx="9906000" cy="1530350"/>
            <a:chOff x="863600" y="908050"/>
            <a:chExt cx="9906000" cy="15303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25CAA1C-81DD-AA11-B118-58127569460A}"/>
                </a:ext>
              </a:extLst>
            </p:cNvPr>
            <p:cNvSpPr/>
            <p:nvPr/>
          </p:nvSpPr>
          <p:spPr>
            <a:xfrm>
              <a:off x="863600" y="920750"/>
              <a:ext cx="1689100" cy="51435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C0 none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Bare task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401F826-DAC5-3643-DD4A-ADA9E8B1CF61}"/>
                </a:ext>
              </a:extLst>
            </p:cNvPr>
            <p:cNvSpPr/>
            <p:nvPr/>
          </p:nvSpPr>
          <p:spPr>
            <a:xfrm>
              <a:off x="863600" y="1460500"/>
              <a:ext cx="1701800" cy="9779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Task on real data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One open analytical choice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8F59533-AE30-2B1D-86F6-D182E3263C18}"/>
                </a:ext>
              </a:extLst>
            </p:cNvPr>
            <p:cNvSpPr/>
            <p:nvPr/>
          </p:nvSpPr>
          <p:spPr>
            <a:xfrm>
              <a:off x="2603500" y="908050"/>
              <a:ext cx="1816100" cy="52705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C1 Basic</a:t>
              </a:r>
            </a:p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+ generic steps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6D5C50B-ECDF-9CDE-CE5D-0237BA697FAA}"/>
                </a:ext>
              </a:extLst>
            </p:cNvPr>
            <p:cNvSpPr/>
            <p:nvPr/>
          </p:nvSpPr>
          <p:spPr>
            <a:xfrm>
              <a:off x="2578100" y="1460500"/>
              <a:ext cx="1854200" cy="96520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</a:rPr>
                <a:t>+ one instruction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354FAC6-AC57-12B8-4A67-86CDC7BBC86B}"/>
                </a:ext>
              </a:extLst>
            </p:cNvPr>
            <p:cNvSpPr/>
            <p:nvPr/>
          </p:nvSpPr>
          <p:spPr>
            <a:xfrm>
              <a:off x="4464050" y="908050"/>
              <a:ext cx="2038350" cy="53975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C2 Contract</a:t>
              </a:r>
            </a:p>
            <a:p>
              <a:pPr algn="ctr"/>
              <a:r>
                <a:rPr lang="en-US" sz="1400" dirty="0"/>
                <a:t>+ Data &amp; Method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F18021E0-B6BB-B05F-CFE1-BB0D2C3D5A85}"/>
                </a:ext>
              </a:extLst>
            </p:cNvPr>
            <p:cNvSpPr/>
            <p:nvPr/>
          </p:nvSpPr>
          <p:spPr>
            <a:xfrm>
              <a:off x="4438650" y="1473200"/>
              <a:ext cx="2063750" cy="952500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AI agent </a:t>
              </a:r>
            </a:p>
            <a:p>
              <a:pPr algn="ctr"/>
              <a:r>
                <a:rPr lang="en-US" sz="1400" dirty="0"/>
                <a:t>Writes &amp; runs code (Python or R)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61F771B-7C14-1AF9-2770-3B00349174A2}"/>
                </a:ext>
              </a:extLst>
            </p:cNvPr>
            <p:cNvSpPr/>
            <p:nvPr/>
          </p:nvSpPr>
          <p:spPr>
            <a:xfrm>
              <a:off x="6540500" y="927100"/>
              <a:ext cx="2222500" cy="52070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C3 Controls</a:t>
              </a:r>
            </a:p>
            <a:p>
              <a:pPr algn="ctr"/>
              <a:r>
                <a:rPr lang="en-US" sz="1400" dirty="0"/>
                <a:t>+ Seed &amp; Split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5C2BEA9-729A-64D5-4FEF-728D429E6398}"/>
                </a:ext>
              </a:extLst>
            </p:cNvPr>
            <p:cNvSpPr/>
            <p:nvPr/>
          </p:nvSpPr>
          <p:spPr>
            <a:xfrm>
              <a:off x="6515100" y="1466850"/>
              <a:ext cx="2260600" cy="946150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AI agent </a:t>
              </a:r>
            </a:p>
            <a:p>
              <a:pPr algn="ctr"/>
              <a:r>
                <a:rPr lang="en-US" sz="1400" dirty="0"/>
                <a:t>One Number</a:t>
              </a:r>
            </a:p>
            <a:p>
              <a:pPr algn="ctr"/>
              <a:r>
                <a:rPr lang="en-US" sz="1400" dirty="0"/>
                <a:t>X 10 Repeated runs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5B181C2-651C-7C95-62EB-D0AB8F9FED8A}"/>
                </a:ext>
              </a:extLst>
            </p:cNvPr>
            <p:cNvSpPr/>
            <p:nvPr/>
          </p:nvSpPr>
          <p:spPr>
            <a:xfrm>
              <a:off x="8782050" y="920750"/>
              <a:ext cx="1987550" cy="527050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C4 Full</a:t>
              </a:r>
            </a:p>
            <a:p>
              <a:pPr algn="ctr"/>
              <a:r>
                <a:rPr lang="en-US" sz="1400" dirty="0"/>
                <a:t>+ Checks &amp; Warnings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E16EF820-C57B-3480-462F-9621670A59C2}"/>
                </a:ext>
              </a:extLst>
            </p:cNvPr>
            <p:cNvSpPr/>
            <p:nvPr/>
          </p:nvSpPr>
          <p:spPr>
            <a:xfrm>
              <a:off x="8794750" y="1473200"/>
              <a:ext cx="1949450" cy="939800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Reproducibility?</a:t>
              </a:r>
            </a:p>
            <a:p>
              <a:pPr algn="ctr"/>
              <a:r>
                <a:rPr lang="en-US" sz="1400" dirty="0"/>
                <a:t>Validity?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CCB8611-29FF-9315-3D34-647B4B245F1F}"/>
              </a:ext>
            </a:extLst>
          </p:cNvPr>
          <p:cNvSpPr txBox="1"/>
          <p:nvPr/>
        </p:nvSpPr>
        <p:spPr>
          <a:xfrm>
            <a:off x="3444665" y="3003550"/>
            <a:ext cx="5302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tasks x 5 levels x 2 languages x 10 runs = 400 runs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BB6844-A78D-3447-5927-26D9B996727F}"/>
              </a:ext>
            </a:extLst>
          </p:cNvPr>
          <p:cNvSpPr txBox="1"/>
          <p:nvPr/>
        </p:nvSpPr>
        <p:spPr>
          <a:xfrm>
            <a:off x="901700" y="280892"/>
            <a:ext cx="10591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 1</a:t>
            </a:r>
            <a:r>
              <a:rPr lang="en-US" dirty="0"/>
              <a:t>: </a:t>
            </a:r>
            <a:r>
              <a:rPr lang="en-US" sz="1600" dirty="0"/>
              <a:t>one number per task, computed many times over: the instruction (Skill) is built up one level at a time, each level keeping the one before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598FF-1DFF-5348-7E66-4E78E45589F8}"/>
              </a:ext>
            </a:extLst>
          </p:cNvPr>
          <p:cNvSpPr txBox="1"/>
          <p:nvPr/>
        </p:nvSpPr>
        <p:spPr>
          <a:xfrm>
            <a:off x="959852" y="3543969"/>
            <a:ext cx="390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Experiment 2</a:t>
            </a:r>
            <a:r>
              <a:rPr lang="en-US" dirty="0"/>
              <a:t>: </a:t>
            </a:r>
            <a:r>
              <a:rPr lang="en-US" sz="1600" dirty="0"/>
              <a:t>a complete written report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20A2D7-7C25-9E67-2A92-15B0CD02098C}"/>
              </a:ext>
            </a:extLst>
          </p:cNvPr>
          <p:cNvSpPr txBox="1"/>
          <p:nvPr/>
        </p:nvSpPr>
        <p:spPr>
          <a:xfrm>
            <a:off x="3536577" y="5729371"/>
            <a:ext cx="5093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templates x 3 conditions x 8 reports = 48 reports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793D81-BF33-2C1B-26BE-B8904A7844A1}"/>
              </a:ext>
            </a:extLst>
          </p:cNvPr>
          <p:cNvGrpSpPr/>
          <p:nvPr/>
        </p:nvGrpSpPr>
        <p:grpSpPr>
          <a:xfrm>
            <a:off x="749300" y="4157913"/>
            <a:ext cx="10372224" cy="1249947"/>
            <a:chOff x="375652" y="4615113"/>
            <a:chExt cx="10533648" cy="1249947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F8C20D6B-7E79-F2CA-4068-328D0680815F}"/>
                </a:ext>
              </a:extLst>
            </p:cNvPr>
            <p:cNvSpPr/>
            <p:nvPr/>
          </p:nvSpPr>
          <p:spPr>
            <a:xfrm>
              <a:off x="375652" y="4626810"/>
              <a:ext cx="1694448" cy="12382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Palmer Penguins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One Dataset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14C1803-E59A-822D-B0D9-25623F0C7CE2}"/>
                </a:ext>
              </a:extLst>
            </p:cNvPr>
            <p:cNvSpPr/>
            <p:nvPr/>
          </p:nvSpPr>
          <p:spPr>
            <a:xfrm>
              <a:off x="2316078" y="4626810"/>
              <a:ext cx="1938422" cy="123825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Write a data report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No /Structure-only / full skill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BCB2448D-FD77-5689-23E2-48F0401E6429}"/>
                </a:ext>
              </a:extLst>
            </p:cNvPr>
            <p:cNvSpPr/>
            <p:nvPr/>
          </p:nvSpPr>
          <p:spPr>
            <a:xfrm>
              <a:off x="4547268" y="4622131"/>
              <a:ext cx="2094832" cy="123825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Two templates</a:t>
              </a:r>
              <a:br>
                <a:rPr lang="en-US" sz="1600" dirty="0"/>
              </a:br>
              <a:r>
                <a:rPr lang="en-US" sz="1600" dirty="0"/>
                <a:t>Standard: 4 analysis</a:t>
              </a:r>
              <a:br>
                <a:rPr lang="en-US" sz="1600" dirty="0"/>
              </a:br>
              <a:r>
                <a:rPr lang="en-US" sz="1600" dirty="0"/>
                <a:t>hard 6 analyses with forks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4808327-5F8D-185B-3C91-A017E6770855}"/>
                </a:ext>
              </a:extLst>
            </p:cNvPr>
            <p:cNvSpPr/>
            <p:nvPr/>
          </p:nvSpPr>
          <p:spPr>
            <a:xfrm>
              <a:off x="6982661" y="4616115"/>
              <a:ext cx="1970839" cy="123825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Judge agent</a:t>
              </a:r>
              <a:br>
                <a:rPr lang="en-US" sz="1600" dirty="0"/>
              </a:br>
              <a:r>
                <a:rPr lang="en-US" sz="1600" dirty="0"/>
                <a:t>grades method use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786CA71-2B95-1800-887D-D49C7258051F}"/>
                </a:ext>
              </a:extLst>
            </p:cNvPr>
            <p:cNvSpPr/>
            <p:nvPr/>
          </p:nvSpPr>
          <p:spPr>
            <a:xfrm>
              <a:off x="9265987" y="4615113"/>
              <a:ext cx="1643313" cy="123825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Coherence</a:t>
              </a:r>
              <a:br>
                <a:rPr lang="en-US" sz="1600" dirty="0"/>
              </a:br>
              <a:r>
                <a:rPr lang="en-US" sz="1600" dirty="0"/>
                <a:t>agreement validity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AC3AAB1B-1519-B683-56F4-69997E364685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>
              <a:off x="2070100" y="5245935"/>
              <a:ext cx="24597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82B6841-8ABF-F663-D52A-EE2E8408FFAD}"/>
                </a:ext>
              </a:extLst>
            </p:cNvPr>
            <p:cNvCxnSpPr>
              <a:cxnSpLocks/>
              <a:stCxn id="28" idx="3"/>
              <a:endCxn id="29" idx="1"/>
            </p:cNvCxnSpPr>
            <p:nvPr/>
          </p:nvCxnSpPr>
          <p:spPr>
            <a:xfrm flipV="1">
              <a:off x="4254500" y="5241256"/>
              <a:ext cx="292768" cy="467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C4F33C-D24F-05EA-B5A2-823FD82CC531}"/>
                </a:ext>
              </a:extLst>
            </p:cNvPr>
            <p:cNvCxnSpPr>
              <a:cxnSpLocks/>
              <a:stCxn id="29" idx="3"/>
              <a:endCxn id="30" idx="1"/>
            </p:cNvCxnSpPr>
            <p:nvPr/>
          </p:nvCxnSpPr>
          <p:spPr>
            <a:xfrm flipV="1">
              <a:off x="6642100" y="5235240"/>
              <a:ext cx="340561" cy="60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CDA9179-E74C-C726-2C93-2D41374E0863}"/>
                </a:ext>
              </a:extLst>
            </p:cNvPr>
            <p:cNvCxnSpPr>
              <a:cxnSpLocks/>
              <a:stCxn id="30" idx="3"/>
              <a:endCxn id="31" idx="1"/>
            </p:cNvCxnSpPr>
            <p:nvPr/>
          </p:nvCxnSpPr>
          <p:spPr>
            <a:xfrm flipV="1">
              <a:off x="8953500" y="5234238"/>
              <a:ext cx="312487" cy="10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095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163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Favoretto</dc:creator>
  <cp:lastModifiedBy>Fabio Favoretto</cp:lastModifiedBy>
  <cp:revision>2</cp:revision>
  <dcterms:created xsi:type="dcterms:W3CDTF">2026-07-15T18:45:07Z</dcterms:created>
  <dcterms:modified xsi:type="dcterms:W3CDTF">2026-07-16T07:19:57Z</dcterms:modified>
</cp:coreProperties>
</file>