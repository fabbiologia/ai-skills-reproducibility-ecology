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8778240" cy="11887200"/>
  <p:notesSz cx="11887200" cy="877824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version of Figure 1, the design schematic. Generated by manuscript/build_design_pptx.js from main_study/analysis_summary.json. Re-running that script overwrites this file, so save edits under a new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51130" y="297180"/>
            <a:ext cx="0" cy="11197742"/>
          </a:xfrm>
          <a:prstGeom prst="line">
            <a:avLst/>
          </a:prstGeom>
          <a:noFill/>
          <a:ln w="22860">
            <a:solidFill>
              <a:srgbClr val="D5DBE0"/>
            </a:solidFill>
            <a:prstDash val="solid"/>
          </a:ln>
        </p:spPr>
      </p:sp>
      <p:sp>
        <p:nvSpPr>
          <p:cNvPr id="3" name="Shape 1"/>
          <p:cNvSpPr/>
          <p:nvPr/>
        </p:nvSpPr>
        <p:spPr>
          <a:xfrm>
            <a:off x="227686" y="173736"/>
            <a:ext cx="246888" cy="246888"/>
          </a:xfrm>
          <a:prstGeom prst="ellipse">
            <a:avLst/>
          </a:prstGeom>
          <a:solidFill>
            <a:srgbClr val="1F2D3A"/>
          </a:solidFill>
          <a:ln w="19050">
            <a:solidFill>
              <a:srgbClr val="FFFFFF"/>
            </a:solidFill>
            <a:prstDash val="solid"/>
          </a:ln>
        </p:spPr>
      </p:sp>
      <p:sp>
        <p:nvSpPr>
          <p:cNvPr id="4" name="Text 2"/>
          <p:cNvSpPr/>
          <p:nvPr/>
        </p:nvSpPr>
        <p:spPr>
          <a:xfrm>
            <a:off x="87782" y="166421"/>
            <a:ext cx="526694" cy="261518"/>
          </a:xfrm>
          <a:prstGeom prst="rect">
            <a:avLst/>
          </a:prstGeom>
          <a:noFill/>
          <a:ln/>
        </p:spPr>
        <p:txBody>
          <a:bodyPr wrap="square" lIns="0" tIns="0" rIns="0" bIns="0" rtlCol="0" anchor="ctr"/>
          <a:lstStyle/>
          <a:p>
            <a:pPr algn="ctr" indent="0" marL="0">
              <a:lnSpc>
                <a:spcPct val="120000"/>
              </a:lnSpc>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5" name="Text 3"/>
          <p:cNvSpPr/>
          <p:nvPr/>
        </p:nvSpPr>
        <p:spPr>
          <a:xfrm>
            <a:off x="702259" y="142646"/>
            <a:ext cx="7198157" cy="309067"/>
          </a:xfrm>
          <a:prstGeom prst="rect">
            <a:avLst/>
          </a:prstGeom>
          <a:noFill/>
          <a:ln/>
        </p:spPr>
        <p:txBody>
          <a:bodyPr wrap="square" lIns="0" tIns="0" rIns="0" bIns="0" rtlCol="0" anchor="ctr"/>
          <a:lstStyle/>
          <a:p>
            <a:pPr algn="l" indent="0" marL="0">
              <a:lnSpc>
                <a:spcPct val="120000"/>
              </a:lnSpc>
              <a:buNone/>
            </a:pPr>
            <a:r>
              <a:rPr lang="en-US" sz="1450" b="1" dirty="0">
                <a:solidFill>
                  <a:srgbClr val="1F2D3A"/>
                </a:solidFill>
                <a:latin typeface="Arial" pitchFamily="34" charset="0"/>
                <a:ea typeface="Arial" pitchFamily="34" charset="-122"/>
                <a:cs typeface="Arial" pitchFamily="34" charset="-120"/>
              </a:rPr>
              <a:t>Twelve analysis tasks on four ecological datasets</a:t>
            </a:r>
            <a:endParaRPr lang="en-US" sz="1450" dirty="0"/>
          </a:p>
        </p:txBody>
      </p:sp>
      <p:sp>
        <p:nvSpPr>
          <p:cNvPr id="6" name="Text 4"/>
          <p:cNvSpPr/>
          <p:nvPr/>
        </p:nvSpPr>
        <p:spPr>
          <a:xfrm>
            <a:off x="702259" y="475488"/>
            <a:ext cx="7724851" cy="285293"/>
          </a:xfrm>
          <a:prstGeom prst="rect">
            <a:avLst/>
          </a:prstGeom>
          <a:noFill/>
          <a:ln/>
        </p:spPr>
        <p:txBody>
          <a:bodyPr wrap="square" lIns="0" tIns="0" rIns="0" bIns="0" rtlCol="0" anchor="ctr"/>
          <a:lstStyle/>
          <a:p>
            <a:pPr algn="l" indent="0" marL="0">
              <a:lnSpc>
                <a:spcPct val="120000"/>
              </a:lnSpc>
              <a:buNone/>
            </a:pPr>
            <a:r>
              <a:rPr lang="en-US" sz="1100" dirty="0">
                <a:solidFill>
                  <a:srgbClr val="5B6570"/>
                </a:solidFill>
                <a:latin typeface="Arial" pitchFamily="34" charset="0"/>
                <a:ea typeface="Arial" pitchFamily="34" charset="-122"/>
                <a:cs typeface="Arial" pitchFamily="34" charset="-120"/>
              </a:rPr>
              <a:t>three tasks for each of four kinds of open choice, and no kind confined to one dataset</a:t>
            </a:r>
            <a:endParaRPr lang="en-US" sz="1100" dirty="0"/>
          </a:p>
        </p:txBody>
      </p:sp>
      <p:sp>
        <p:nvSpPr>
          <p:cNvPr id="7" name="Text 5"/>
          <p:cNvSpPr/>
          <p:nvPr/>
        </p:nvSpPr>
        <p:spPr>
          <a:xfrm>
            <a:off x="298460" y="1206551"/>
            <a:ext cx="2106778" cy="261518"/>
          </a:xfrm>
          <a:prstGeom prst="rect">
            <a:avLst/>
          </a:prstGeom>
          <a:noFill/>
          <a:ln/>
        </p:spPr>
        <p:txBody>
          <a:bodyPr wrap="square" lIns="0" tIns="0" rIns="0" bIns="0" rtlCol="0" anchor="ctr"/>
          <a:lstStyle/>
          <a:p>
            <a:pPr algn="r" indent="0" marL="0">
              <a:lnSpc>
                <a:spcPct val="120000"/>
              </a:lnSpc>
              <a:buNone/>
            </a:pPr>
            <a:r>
              <a:rPr lang="en-US" sz="1150" b="1" dirty="0">
                <a:solidFill>
                  <a:srgbClr val="1F2D3A"/>
                </a:solidFill>
                <a:latin typeface="Arial" pitchFamily="34" charset="0"/>
                <a:ea typeface="Arial" pitchFamily="34" charset="-122"/>
                <a:cs typeface="Arial" pitchFamily="34" charset="-120"/>
              </a:rPr>
              <a:t>Sampling unit</a:t>
            </a:r>
            <a:endParaRPr lang="en-US" sz="1150" dirty="0"/>
          </a:p>
        </p:txBody>
      </p:sp>
      <p:sp>
        <p:nvSpPr>
          <p:cNvPr id="8" name="Text 6"/>
          <p:cNvSpPr/>
          <p:nvPr/>
        </p:nvSpPr>
        <p:spPr>
          <a:xfrm>
            <a:off x="298460" y="1479956"/>
            <a:ext cx="2106778" cy="356616"/>
          </a:xfrm>
          <a:prstGeom prst="rect">
            <a:avLst/>
          </a:prstGeom>
          <a:noFill/>
          <a:ln/>
        </p:spPr>
        <p:txBody>
          <a:bodyPr wrap="square" lIns="0" tIns="0" rIns="0" bIns="0" rtlCol="0" anchor="ctr"/>
          <a:lstStyle/>
          <a:p>
            <a:pPr algn="r" indent="0" marL="0">
              <a:lnSpc>
                <a:spcPct val="120000"/>
              </a:lnSpc>
              <a:buNone/>
            </a:pPr>
            <a:r>
              <a:rPr lang="en-US" sz="920" dirty="0">
                <a:solidFill>
                  <a:srgbClr val="5B6570"/>
                </a:solidFill>
                <a:latin typeface="Arial" pitchFamily="34" charset="0"/>
                <a:ea typeface="Arial" pitchFamily="34" charset="-122"/>
                <a:cs typeface="Arial" pitchFamily="34" charset="-120"/>
              </a:rPr>
              <a:t>what is averaged over</a:t>
            </a:r>
            <a:endParaRPr lang="en-US" sz="920" dirty="0"/>
          </a:p>
          <a:p>
            <a:pPr algn="r" indent="0" marL="0">
              <a:lnSpc>
                <a:spcPct val="120000"/>
              </a:lnSpc>
              <a:buNone/>
            </a:pPr>
            <a:r>
              <a:rPr lang="en-US" sz="920" dirty="0">
                <a:solidFill>
                  <a:srgbClr val="5B6570"/>
                </a:solidFill>
                <a:latin typeface="Arial" pitchFamily="34" charset="0"/>
                <a:ea typeface="Arial" pitchFamily="34" charset="-122"/>
                <a:cs typeface="Arial" pitchFamily="34" charset="-120"/>
              </a:rPr>
              <a:t>before a mean is taken</a:t>
            </a:r>
            <a:endParaRPr lang="en-US" sz="920" dirty="0"/>
          </a:p>
        </p:txBody>
      </p:sp>
      <p:sp>
        <p:nvSpPr>
          <p:cNvPr id="9" name="Shape 7"/>
          <p:cNvSpPr/>
          <p:nvPr/>
        </p:nvSpPr>
        <p:spPr>
          <a:xfrm>
            <a:off x="2545690" y="1212494"/>
            <a:ext cx="1808317" cy="523037"/>
          </a:xfrm>
          <a:prstGeom prst="roundRect">
            <a:avLst>
              <a:gd name="adj" fmla="val 13986"/>
            </a:avLst>
          </a:prstGeom>
          <a:solidFill>
            <a:srgbClr val="8C6BB1">
              <a:alpha val="15000"/>
            </a:srgbClr>
          </a:solidFill>
          <a:ln w="15240">
            <a:solidFill>
              <a:srgbClr val="8C6BB1"/>
            </a:solidFill>
            <a:prstDash val="solid"/>
          </a:ln>
        </p:spPr>
      </p:sp>
      <p:sp>
        <p:nvSpPr>
          <p:cNvPr id="10" name="Text 8"/>
          <p:cNvSpPr/>
          <p:nvPr/>
        </p:nvSpPr>
        <p:spPr>
          <a:xfrm>
            <a:off x="2572024" y="1206551"/>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mean biomass</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per transect</a:t>
            </a:r>
            <a:endParaRPr lang="en-US" sz="1000" dirty="0"/>
          </a:p>
        </p:txBody>
      </p:sp>
      <p:sp>
        <p:nvSpPr>
          <p:cNvPr id="11" name="Text 9"/>
          <p:cNvSpPr/>
          <p:nvPr/>
        </p:nvSpPr>
        <p:spPr>
          <a:xfrm>
            <a:off x="2572024" y="1533449"/>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reef fish</a:t>
            </a:r>
            <a:endParaRPr lang="en-US" sz="850" dirty="0"/>
          </a:p>
        </p:txBody>
      </p:sp>
      <p:sp>
        <p:nvSpPr>
          <p:cNvPr id="12" name="Shape 10"/>
          <p:cNvSpPr/>
          <p:nvPr/>
        </p:nvSpPr>
        <p:spPr>
          <a:xfrm>
            <a:off x="4476902" y="1212494"/>
            <a:ext cx="1808317" cy="523037"/>
          </a:xfrm>
          <a:prstGeom prst="roundRect">
            <a:avLst>
              <a:gd name="adj" fmla="val 13986"/>
            </a:avLst>
          </a:prstGeom>
          <a:solidFill>
            <a:srgbClr val="6A9E5B">
              <a:alpha val="15000"/>
            </a:srgbClr>
          </a:solidFill>
          <a:ln w="15240">
            <a:solidFill>
              <a:srgbClr val="6A9E5B"/>
            </a:solidFill>
            <a:prstDash val="solid"/>
          </a:ln>
        </p:spPr>
      </p:sp>
      <p:sp>
        <p:nvSpPr>
          <p:cNvPr id="13" name="Text 11"/>
          <p:cNvSpPr/>
          <p:nvPr/>
        </p:nvSpPr>
        <p:spPr>
          <a:xfrm>
            <a:off x="4503237" y="1206551"/>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mean catch</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per plot-year</a:t>
            </a:r>
            <a:endParaRPr lang="en-US" sz="1000" dirty="0"/>
          </a:p>
        </p:txBody>
      </p:sp>
      <p:sp>
        <p:nvSpPr>
          <p:cNvPr id="14" name="Text 12"/>
          <p:cNvSpPr/>
          <p:nvPr/>
        </p:nvSpPr>
        <p:spPr>
          <a:xfrm>
            <a:off x="4503237" y="1533449"/>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rodents</a:t>
            </a:r>
            <a:endParaRPr lang="en-US" sz="850" dirty="0"/>
          </a:p>
        </p:txBody>
      </p:sp>
      <p:sp>
        <p:nvSpPr>
          <p:cNvPr id="15" name="Shape 13"/>
          <p:cNvSpPr/>
          <p:nvPr/>
        </p:nvSpPr>
        <p:spPr>
          <a:xfrm>
            <a:off x="6408115" y="1212494"/>
            <a:ext cx="1808317" cy="523037"/>
          </a:xfrm>
          <a:prstGeom prst="roundRect">
            <a:avLst>
              <a:gd name="adj" fmla="val 13986"/>
            </a:avLst>
          </a:prstGeom>
          <a:solidFill>
            <a:srgbClr val="6A9E5B">
              <a:alpha val="15000"/>
            </a:srgbClr>
          </a:solidFill>
          <a:ln w="15240">
            <a:solidFill>
              <a:srgbClr val="6A9E5B"/>
            </a:solidFill>
            <a:prstDash val="solid"/>
          </a:ln>
        </p:spPr>
      </p:sp>
      <p:sp>
        <p:nvSpPr>
          <p:cNvPr id="16" name="Text 14"/>
          <p:cNvSpPr/>
          <p:nvPr/>
        </p:nvSpPr>
        <p:spPr>
          <a:xfrm>
            <a:off x="6434450" y="1206551"/>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mean richness</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per plot-year</a:t>
            </a:r>
            <a:endParaRPr lang="en-US" sz="1000" dirty="0"/>
          </a:p>
        </p:txBody>
      </p:sp>
      <p:sp>
        <p:nvSpPr>
          <p:cNvPr id="17" name="Text 15"/>
          <p:cNvSpPr/>
          <p:nvPr/>
        </p:nvSpPr>
        <p:spPr>
          <a:xfrm>
            <a:off x="6434450" y="1533449"/>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rodents</a:t>
            </a:r>
            <a:endParaRPr lang="en-US" sz="850" dirty="0"/>
          </a:p>
        </p:txBody>
      </p:sp>
      <p:sp>
        <p:nvSpPr>
          <p:cNvPr id="18" name="Text 16"/>
          <p:cNvSpPr/>
          <p:nvPr/>
        </p:nvSpPr>
        <p:spPr>
          <a:xfrm>
            <a:off x="298460" y="1854403"/>
            <a:ext cx="2106778" cy="261518"/>
          </a:xfrm>
          <a:prstGeom prst="rect">
            <a:avLst/>
          </a:prstGeom>
          <a:noFill/>
          <a:ln/>
        </p:spPr>
        <p:txBody>
          <a:bodyPr wrap="square" lIns="0" tIns="0" rIns="0" bIns="0" rtlCol="0" anchor="ctr"/>
          <a:lstStyle/>
          <a:p>
            <a:pPr algn="r" indent="0" marL="0">
              <a:lnSpc>
                <a:spcPct val="120000"/>
              </a:lnSpc>
              <a:buNone/>
            </a:pPr>
            <a:r>
              <a:rPr lang="en-US" sz="1150" b="1" dirty="0">
                <a:solidFill>
                  <a:srgbClr val="1F2D3A"/>
                </a:solidFill>
                <a:latin typeface="Arial" pitchFamily="34" charset="0"/>
                <a:ea typeface="Arial" pitchFamily="34" charset="-122"/>
                <a:cs typeface="Arial" pitchFamily="34" charset="-120"/>
              </a:rPr>
              <a:t>Scope</a:t>
            </a:r>
            <a:endParaRPr lang="en-US" sz="1150" dirty="0"/>
          </a:p>
        </p:txBody>
      </p:sp>
      <p:sp>
        <p:nvSpPr>
          <p:cNvPr id="19" name="Text 17"/>
          <p:cNvSpPr/>
          <p:nvPr/>
        </p:nvSpPr>
        <p:spPr>
          <a:xfrm>
            <a:off x="298460" y="2127809"/>
            <a:ext cx="2106778" cy="356616"/>
          </a:xfrm>
          <a:prstGeom prst="rect">
            <a:avLst/>
          </a:prstGeom>
          <a:noFill/>
          <a:ln/>
        </p:spPr>
        <p:txBody>
          <a:bodyPr wrap="square" lIns="0" tIns="0" rIns="0" bIns="0" rtlCol="0" anchor="ctr"/>
          <a:lstStyle/>
          <a:p>
            <a:pPr algn="r" indent="0" marL="0">
              <a:lnSpc>
                <a:spcPct val="120000"/>
              </a:lnSpc>
              <a:buNone/>
            </a:pPr>
            <a:r>
              <a:rPr lang="en-US" sz="920" dirty="0">
                <a:solidFill>
                  <a:srgbClr val="5B6570"/>
                </a:solidFill>
                <a:latin typeface="Arial" pitchFamily="34" charset="0"/>
                <a:ea typeface="Arial" pitchFamily="34" charset="-122"/>
                <a:cs typeface="Arial" pitchFamily="34" charset="-120"/>
              </a:rPr>
              <a:t>pooled across groups,</a:t>
            </a:r>
            <a:endParaRPr lang="en-US" sz="920" dirty="0"/>
          </a:p>
          <a:p>
            <a:pPr algn="r" indent="0" marL="0">
              <a:lnSpc>
                <a:spcPct val="120000"/>
              </a:lnSpc>
              <a:buNone/>
            </a:pPr>
            <a:r>
              <a:rPr lang="en-US" sz="920" dirty="0">
                <a:solidFill>
                  <a:srgbClr val="5B6570"/>
                </a:solidFill>
                <a:latin typeface="Arial" pitchFamily="34" charset="0"/>
                <a:ea typeface="Arial" pitchFamily="34" charset="-122"/>
                <a:cs typeface="Arial" pitchFamily="34" charset="-120"/>
              </a:rPr>
              <a:t>or computed within them</a:t>
            </a:r>
            <a:endParaRPr lang="en-US" sz="920" dirty="0"/>
          </a:p>
        </p:txBody>
      </p:sp>
      <p:sp>
        <p:nvSpPr>
          <p:cNvPr id="20" name="Shape 18"/>
          <p:cNvSpPr/>
          <p:nvPr/>
        </p:nvSpPr>
        <p:spPr>
          <a:xfrm>
            <a:off x="2545690" y="1860347"/>
            <a:ext cx="1808317" cy="523037"/>
          </a:xfrm>
          <a:prstGeom prst="roundRect">
            <a:avLst>
              <a:gd name="adj" fmla="val 13986"/>
            </a:avLst>
          </a:prstGeom>
          <a:solidFill>
            <a:srgbClr val="E69F00">
              <a:alpha val="15000"/>
            </a:srgbClr>
          </a:solidFill>
          <a:ln w="15240">
            <a:solidFill>
              <a:srgbClr val="E69F00"/>
            </a:solidFill>
            <a:prstDash val="solid"/>
          </a:ln>
        </p:spPr>
      </p:sp>
      <p:sp>
        <p:nvSpPr>
          <p:cNvPr id="21" name="Text 19"/>
          <p:cNvSpPr/>
          <p:nvPr/>
        </p:nvSpPr>
        <p:spPr>
          <a:xfrm>
            <a:off x="2572024" y="1854403"/>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sepal length</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vs width</a:t>
            </a:r>
            <a:endParaRPr lang="en-US" sz="1000" dirty="0"/>
          </a:p>
        </p:txBody>
      </p:sp>
      <p:sp>
        <p:nvSpPr>
          <p:cNvPr id="22" name="Text 20"/>
          <p:cNvSpPr/>
          <p:nvPr/>
        </p:nvSpPr>
        <p:spPr>
          <a:xfrm>
            <a:off x="2572024" y="2181301"/>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iris</a:t>
            </a:r>
            <a:endParaRPr lang="en-US" sz="850" dirty="0"/>
          </a:p>
        </p:txBody>
      </p:sp>
      <p:sp>
        <p:nvSpPr>
          <p:cNvPr id="23" name="Shape 21"/>
          <p:cNvSpPr/>
          <p:nvPr/>
        </p:nvSpPr>
        <p:spPr>
          <a:xfrm>
            <a:off x="4476902" y="1860347"/>
            <a:ext cx="1808317" cy="523037"/>
          </a:xfrm>
          <a:prstGeom prst="roundRect">
            <a:avLst>
              <a:gd name="adj" fmla="val 13986"/>
            </a:avLst>
          </a:prstGeom>
          <a:solidFill>
            <a:srgbClr val="56B4E9">
              <a:alpha val="15000"/>
            </a:srgbClr>
          </a:solidFill>
          <a:ln w="15240">
            <a:solidFill>
              <a:srgbClr val="56B4E9"/>
            </a:solidFill>
            <a:prstDash val="solid"/>
          </a:ln>
        </p:spPr>
      </p:sp>
      <p:sp>
        <p:nvSpPr>
          <p:cNvPr id="24" name="Text 22"/>
          <p:cNvSpPr/>
          <p:nvPr/>
        </p:nvSpPr>
        <p:spPr>
          <a:xfrm>
            <a:off x="4503237" y="1854403"/>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bill length</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vs depth</a:t>
            </a:r>
            <a:endParaRPr lang="en-US" sz="1000" dirty="0"/>
          </a:p>
        </p:txBody>
      </p:sp>
      <p:sp>
        <p:nvSpPr>
          <p:cNvPr id="25" name="Text 23"/>
          <p:cNvSpPr/>
          <p:nvPr/>
        </p:nvSpPr>
        <p:spPr>
          <a:xfrm>
            <a:off x="4503237" y="2181301"/>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penguins</a:t>
            </a:r>
            <a:endParaRPr lang="en-US" sz="850" dirty="0"/>
          </a:p>
        </p:txBody>
      </p:sp>
      <p:sp>
        <p:nvSpPr>
          <p:cNvPr id="26" name="Shape 24"/>
          <p:cNvSpPr/>
          <p:nvPr/>
        </p:nvSpPr>
        <p:spPr>
          <a:xfrm>
            <a:off x="6408115" y="1860347"/>
            <a:ext cx="1808317" cy="523037"/>
          </a:xfrm>
          <a:prstGeom prst="roundRect">
            <a:avLst>
              <a:gd name="adj" fmla="val 13986"/>
            </a:avLst>
          </a:prstGeom>
          <a:solidFill>
            <a:srgbClr val="6A9E5B">
              <a:alpha val="15000"/>
            </a:srgbClr>
          </a:solidFill>
          <a:ln w="15240">
            <a:solidFill>
              <a:srgbClr val="6A9E5B"/>
            </a:solidFill>
            <a:prstDash val="solid"/>
          </a:ln>
        </p:spPr>
      </p:sp>
      <p:sp>
        <p:nvSpPr>
          <p:cNvPr id="27" name="Text 25"/>
          <p:cNvSpPr/>
          <p:nvPr/>
        </p:nvSpPr>
        <p:spPr>
          <a:xfrm>
            <a:off x="6434450" y="1854403"/>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hindfoot</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vs weight</a:t>
            </a:r>
            <a:endParaRPr lang="en-US" sz="1000" dirty="0"/>
          </a:p>
        </p:txBody>
      </p:sp>
      <p:sp>
        <p:nvSpPr>
          <p:cNvPr id="28" name="Text 26"/>
          <p:cNvSpPr/>
          <p:nvPr/>
        </p:nvSpPr>
        <p:spPr>
          <a:xfrm>
            <a:off x="6434450" y="2181301"/>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rodents</a:t>
            </a:r>
            <a:endParaRPr lang="en-US" sz="850" dirty="0"/>
          </a:p>
        </p:txBody>
      </p:sp>
      <p:sp>
        <p:nvSpPr>
          <p:cNvPr id="29" name="Text 27"/>
          <p:cNvSpPr/>
          <p:nvPr/>
        </p:nvSpPr>
        <p:spPr>
          <a:xfrm>
            <a:off x="298460" y="2502256"/>
            <a:ext cx="2106778" cy="261518"/>
          </a:xfrm>
          <a:prstGeom prst="rect">
            <a:avLst/>
          </a:prstGeom>
          <a:noFill/>
          <a:ln/>
        </p:spPr>
        <p:txBody>
          <a:bodyPr wrap="square" lIns="0" tIns="0" rIns="0" bIns="0" rtlCol="0" anchor="ctr"/>
          <a:lstStyle/>
          <a:p>
            <a:pPr algn="r" indent="0" marL="0">
              <a:lnSpc>
                <a:spcPct val="120000"/>
              </a:lnSpc>
              <a:buNone/>
            </a:pPr>
            <a:r>
              <a:rPr lang="en-US" sz="1150" b="1" dirty="0">
                <a:solidFill>
                  <a:srgbClr val="1F2D3A"/>
                </a:solidFill>
                <a:latin typeface="Arial" pitchFamily="34" charset="0"/>
                <a:ea typeface="Arial" pitchFamily="34" charset="-122"/>
                <a:cs typeface="Arial" pitchFamily="34" charset="-120"/>
              </a:rPr>
              <a:t>Missing records</a:t>
            </a:r>
            <a:endParaRPr lang="en-US" sz="1150" dirty="0"/>
          </a:p>
        </p:txBody>
      </p:sp>
      <p:sp>
        <p:nvSpPr>
          <p:cNvPr id="30" name="Text 28"/>
          <p:cNvSpPr/>
          <p:nvPr/>
        </p:nvSpPr>
        <p:spPr>
          <a:xfrm>
            <a:off x="298460" y="2775661"/>
            <a:ext cx="2106778" cy="356616"/>
          </a:xfrm>
          <a:prstGeom prst="rect">
            <a:avLst/>
          </a:prstGeom>
          <a:noFill/>
          <a:ln/>
        </p:spPr>
        <p:txBody>
          <a:bodyPr wrap="square" lIns="0" tIns="0" rIns="0" bIns="0" rtlCol="0" anchor="ctr"/>
          <a:lstStyle/>
          <a:p>
            <a:pPr algn="r" indent="0" marL="0">
              <a:lnSpc>
                <a:spcPct val="120000"/>
              </a:lnSpc>
              <a:buNone/>
            </a:pPr>
            <a:r>
              <a:rPr lang="en-US" sz="920" dirty="0">
                <a:solidFill>
                  <a:srgbClr val="5B6570"/>
                </a:solidFill>
                <a:latin typeface="Arial" pitchFamily="34" charset="0"/>
                <a:ea typeface="Arial" pitchFamily="34" charset="-122"/>
                <a:cs typeface="Arial" pitchFamily="34" charset="-120"/>
              </a:rPr>
              <a:t>absent values, and rows</a:t>
            </a:r>
            <a:endParaRPr lang="en-US" sz="920" dirty="0"/>
          </a:p>
          <a:p>
            <a:pPr algn="r" indent="0" marL="0">
              <a:lnSpc>
                <a:spcPct val="120000"/>
              </a:lnSpc>
              <a:buNone/>
            </a:pPr>
            <a:r>
              <a:rPr lang="en-US" sz="920" dirty="0">
                <a:solidFill>
                  <a:srgbClr val="5B6570"/>
                </a:solidFill>
                <a:latin typeface="Arial" pitchFamily="34" charset="0"/>
                <a:ea typeface="Arial" pitchFamily="34" charset="-122"/>
                <a:cs typeface="Arial" pitchFamily="34" charset="-120"/>
              </a:rPr>
              <a:t>absent altogether</a:t>
            </a:r>
            <a:endParaRPr lang="en-US" sz="920" dirty="0"/>
          </a:p>
        </p:txBody>
      </p:sp>
      <p:sp>
        <p:nvSpPr>
          <p:cNvPr id="31" name="Shape 29"/>
          <p:cNvSpPr/>
          <p:nvPr/>
        </p:nvSpPr>
        <p:spPr>
          <a:xfrm>
            <a:off x="2545690" y="2508199"/>
            <a:ext cx="1808317" cy="523037"/>
          </a:xfrm>
          <a:prstGeom prst="roundRect">
            <a:avLst>
              <a:gd name="adj" fmla="val 13986"/>
            </a:avLst>
          </a:prstGeom>
          <a:solidFill>
            <a:srgbClr val="56B4E9">
              <a:alpha val="15000"/>
            </a:srgbClr>
          </a:solidFill>
          <a:ln w="15240">
            <a:solidFill>
              <a:srgbClr val="56B4E9"/>
            </a:solidFill>
            <a:prstDash val="solid"/>
          </a:ln>
        </p:spPr>
      </p:sp>
      <p:sp>
        <p:nvSpPr>
          <p:cNvPr id="32" name="Text 30"/>
          <p:cNvSpPr/>
          <p:nvPr/>
        </p:nvSpPr>
        <p:spPr>
          <a:xfrm>
            <a:off x="2572024" y="2502256"/>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mass of</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female Gentoo</a:t>
            </a:r>
            <a:endParaRPr lang="en-US" sz="1000" dirty="0"/>
          </a:p>
        </p:txBody>
      </p:sp>
      <p:sp>
        <p:nvSpPr>
          <p:cNvPr id="33" name="Text 31"/>
          <p:cNvSpPr/>
          <p:nvPr/>
        </p:nvSpPr>
        <p:spPr>
          <a:xfrm>
            <a:off x="2572024" y="2829154"/>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penguins</a:t>
            </a:r>
            <a:endParaRPr lang="en-US" sz="850" dirty="0"/>
          </a:p>
        </p:txBody>
      </p:sp>
      <p:sp>
        <p:nvSpPr>
          <p:cNvPr id="34" name="Shape 32"/>
          <p:cNvSpPr/>
          <p:nvPr/>
        </p:nvSpPr>
        <p:spPr>
          <a:xfrm>
            <a:off x="4476902" y="2508199"/>
            <a:ext cx="1808317" cy="523037"/>
          </a:xfrm>
          <a:prstGeom prst="roundRect">
            <a:avLst>
              <a:gd name="adj" fmla="val 13986"/>
            </a:avLst>
          </a:prstGeom>
          <a:solidFill>
            <a:srgbClr val="6A9E5B">
              <a:alpha val="15000"/>
            </a:srgbClr>
          </a:solidFill>
          <a:ln w="15240">
            <a:solidFill>
              <a:srgbClr val="6A9E5B"/>
            </a:solidFill>
            <a:prstDash val="solid"/>
          </a:ln>
        </p:spPr>
      </p:sp>
      <p:sp>
        <p:nvSpPr>
          <p:cNvPr id="35" name="Text 33"/>
          <p:cNvSpPr/>
          <p:nvPr/>
        </p:nvSpPr>
        <p:spPr>
          <a:xfrm>
            <a:off x="4503237" y="2502256"/>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weight of</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one species</a:t>
            </a:r>
            <a:endParaRPr lang="en-US" sz="1000" dirty="0"/>
          </a:p>
        </p:txBody>
      </p:sp>
      <p:sp>
        <p:nvSpPr>
          <p:cNvPr id="36" name="Text 34"/>
          <p:cNvSpPr/>
          <p:nvPr/>
        </p:nvSpPr>
        <p:spPr>
          <a:xfrm>
            <a:off x="4503237" y="2829154"/>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rodents</a:t>
            </a:r>
            <a:endParaRPr lang="en-US" sz="850" dirty="0"/>
          </a:p>
        </p:txBody>
      </p:sp>
      <p:sp>
        <p:nvSpPr>
          <p:cNvPr id="37" name="Shape 35"/>
          <p:cNvSpPr/>
          <p:nvPr/>
        </p:nvSpPr>
        <p:spPr>
          <a:xfrm>
            <a:off x="6408115" y="2508199"/>
            <a:ext cx="1808317" cy="523037"/>
          </a:xfrm>
          <a:prstGeom prst="roundRect">
            <a:avLst>
              <a:gd name="adj" fmla="val 13986"/>
            </a:avLst>
          </a:prstGeom>
          <a:solidFill>
            <a:srgbClr val="6A9E5B">
              <a:alpha val="15000"/>
            </a:srgbClr>
          </a:solidFill>
          <a:ln w="15240">
            <a:solidFill>
              <a:srgbClr val="6A9E5B"/>
            </a:solidFill>
            <a:prstDash val="solid"/>
          </a:ln>
        </p:spPr>
      </p:sp>
      <p:sp>
        <p:nvSpPr>
          <p:cNvPr id="38" name="Text 36"/>
          <p:cNvSpPr/>
          <p:nvPr/>
        </p:nvSpPr>
        <p:spPr>
          <a:xfrm>
            <a:off x="6434450" y="2502256"/>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mean catch, counting</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empty plot-years</a:t>
            </a:r>
            <a:endParaRPr lang="en-US" sz="1000" dirty="0"/>
          </a:p>
        </p:txBody>
      </p:sp>
      <p:sp>
        <p:nvSpPr>
          <p:cNvPr id="39" name="Text 37"/>
          <p:cNvSpPr/>
          <p:nvPr/>
        </p:nvSpPr>
        <p:spPr>
          <a:xfrm>
            <a:off x="6434450" y="2829154"/>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rodents</a:t>
            </a:r>
            <a:endParaRPr lang="en-US" sz="850" dirty="0"/>
          </a:p>
        </p:txBody>
      </p:sp>
      <p:sp>
        <p:nvSpPr>
          <p:cNvPr id="40" name="Text 38"/>
          <p:cNvSpPr/>
          <p:nvPr/>
        </p:nvSpPr>
        <p:spPr>
          <a:xfrm>
            <a:off x="298460" y="3150108"/>
            <a:ext cx="2106778" cy="261518"/>
          </a:xfrm>
          <a:prstGeom prst="rect">
            <a:avLst/>
          </a:prstGeom>
          <a:noFill/>
          <a:ln/>
        </p:spPr>
        <p:txBody>
          <a:bodyPr wrap="square" lIns="0" tIns="0" rIns="0" bIns="0" rtlCol="0" anchor="ctr"/>
          <a:lstStyle/>
          <a:p>
            <a:pPr algn="r" indent="0" marL="0">
              <a:lnSpc>
                <a:spcPct val="120000"/>
              </a:lnSpc>
              <a:buNone/>
            </a:pPr>
            <a:r>
              <a:rPr lang="en-US" sz="1150" b="1" dirty="0">
                <a:solidFill>
                  <a:srgbClr val="1F2D3A"/>
                </a:solidFill>
                <a:latin typeface="Arial" pitchFamily="34" charset="0"/>
                <a:ea typeface="Arial" pitchFamily="34" charset="-122"/>
                <a:cs typeface="Arial" pitchFamily="34" charset="-120"/>
              </a:rPr>
              <a:t>Fitting a model</a:t>
            </a:r>
            <a:endParaRPr lang="en-US" sz="1150" dirty="0"/>
          </a:p>
        </p:txBody>
      </p:sp>
      <p:sp>
        <p:nvSpPr>
          <p:cNvPr id="41" name="Text 39"/>
          <p:cNvSpPr/>
          <p:nvPr/>
        </p:nvSpPr>
        <p:spPr>
          <a:xfrm>
            <a:off x="298460" y="3423514"/>
            <a:ext cx="2106778" cy="356616"/>
          </a:xfrm>
          <a:prstGeom prst="rect">
            <a:avLst/>
          </a:prstGeom>
          <a:noFill/>
          <a:ln/>
        </p:spPr>
        <p:txBody>
          <a:bodyPr wrap="square" lIns="0" tIns="0" rIns="0" bIns="0" rtlCol="0" anchor="ctr"/>
          <a:lstStyle/>
          <a:p>
            <a:pPr algn="r" indent="0" marL="0">
              <a:lnSpc>
                <a:spcPct val="120000"/>
              </a:lnSpc>
              <a:buNone/>
            </a:pPr>
            <a:r>
              <a:rPr lang="en-US" sz="920" dirty="0">
                <a:solidFill>
                  <a:srgbClr val="5B6570"/>
                </a:solidFill>
                <a:latin typeface="Arial" pitchFamily="34" charset="0"/>
                <a:ea typeface="Arial" pitchFamily="34" charset="-122"/>
                <a:cs typeface="Arial" pitchFamily="34" charset="-120"/>
              </a:rPr>
              <a:t>the split, the seed,</a:t>
            </a:r>
            <a:endParaRPr lang="en-US" sz="920" dirty="0"/>
          </a:p>
          <a:p>
            <a:pPr algn="r" indent="0" marL="0">
              <a:lnSpc>
                <a:spcPct val="120000"/>
              </a:lnSpc>
              <a:buNone/>
            </a:pPr>
            <a:r>
              <a:rPr lang="en-US" sz="920" dirty="0">
                <a:solidFill>
                  <a:srgbClr val="5B6570"/>
                </a:solidFill>
                <a:latin typeface="Arial" pitchFamily="34" charset="0"/>
                <a:ea typeface="Arial" pitchFamily="34" charset="-122"/>
                <a:cs typeface="Arial" pitchFamily="34" charset="-120"/>
              </a:rPr>
              <a:t>the scaling</a:t>
            </a:r>
            <a:endParaRPr lang="en-US" sz="920" dirty="0"/>
          </a:p>
        </p:txBody>
      </p:sp>
      <p:sp>
        <p:nvSpPr>
          <p:cNvPr id="42" name="Shape 40"/>
          <p:cNvSpPr/>
          <p:nvPr/>
        </p:nvSpPr>
        <p:spPr>
          <a:xfrm>
            <a:off x="2545690" y="3156052"/>
            <a:ext cx="1808317" cy="523037"/>
          </a:xfrm>
          <a:prstGeom prst="roundRect">
            <a:avLst>
              <a:gd name="adj" fmla="val 13986"/>
            </a:avLst>
          </a:prstGeom>
          <a:solidFill>
            <a:srgbClr val="56B4E9">
              <a:alpha val="15000"/>
            </a:srgbClr>
          </a:solidFill>
          <a:ln w="15240">
            <a:solidFill>
              <a:srgbClr val="56B4E9"/>
            </a:solidFill>
            <a:prstDash val="solid"/>
          </a:ln>
        </p:spPr>
      </p:sp>
      <p:sp>
        <p:nvSpPr>
          <p:cNvPr id="43" name="Text 41"/>
          <p:cNvSpPr/>
          <p:nvPr/>
        </p:nvSpPr>
        <p:spPr>
          <a:xfrm>
            <a:off x="2572024" y="3150108"/>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penguin sex</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classifier</a:t>
            </a:r>
            <a:endParaRPr lang="en-US" sz="1000" dirty="0"/>
          </a:p>
        </p:txBody>
      </p:sp>
      <p:sp>
        <p:nvSpPr>
          <p:cNvPr id="44" name="Text 42"/>
          <p:cNvSpPr/>
          <p:nvPr/>
        </p:nvSpPr>
        <p:spPr>
          <a:xfrm>
            <a:off x="2572024" y="3477006"/>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penguins</a:t>
            </a:r>
            <a:endParaRPr lang="en-US" sz="850" dirty="0"/>
          </a:p>
        </p:txBody>
      </p:sp>
      <p:sp>
        <p:nvSpPr>
          <p:cNvPr id="45" name="Shape 43"/>
          <p:cNvSpPr/>
          <p:nvPr/>
        </p:nvSpPr>
        <p:spPr>
          <a:xfrm>
            <a:off x="4476902" y="3156052"/>
            <a:ext cx="1808317" cy="523037"/>
          </a:xfrm>
          <a:prstGeom prst="roundRect">
            <a:avLst>
              <a:gd name="adj" fmla="val 13986"/>
            </a:avLst>
          </a:prstGeom>
          <a:solidFill>
            <a:srgbClr val="E69F00">
              <a:alpha val="15000"/>
            </a:srgbClr>
          </a:solidFill>
          <a:ln w="15240">
            <a:solidFill>
              <a:srgbClr val="E69F00"/>
            </a:solidFill>
            <a:prstDash val="solid"/>
          </a:ln>
        </p:spPr>
      </p:sp>
      <p:sp>
        <p:nvSpPr>
          <p:cNvPr id="46" name="Text 44"/>
          <p:cNvSpPr/>
          <p:nvPr/>
        </p:nvSpPr>
        <p:spPr>
          <a:xfrm>
            <a:off x="4503237" y="3150108"/>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iris species</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classifier</a:t>
            </a:r>
            <a:endParaRPr lang="en-US" sz="1000" dirty="0"/>
          </a:p>
        </p:txBody>
      </p:sp>
      <p:sp>
        <p:nvSpPr>
          <p:cNvPr id="47" name="Text 45"/>
          <p:cNvSpPr/>
          <p:nvPr/>
        </p:nvSpPr>
        <p:spPr>
          <a:xfrm>
            <a:off x="4503237" y="3477006"/>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iris</a:t>
            </a:r>
            <a:endParaRPr lang="en-US" sz="850" dirty="0"/>
          </a:p>
        </p:txBody>
      </p:sp>
      <p:sp>
        <p:nvSpPr>
          <p:cNvPr id="48" name="Shape 46"/>
          <p:cNvSpPr/>
          <p:nvPr/>
        </p:nvSpPr>
        <p:spPr>
          <a:xfrm>
            <a:off x="6408115" y="3156052"/>
            <a:ext cx="1808317" cy="523037"/>
          </a:xfrm>
          <a:prstGeom prst="roundRect">
            <a:avLst>
              <a:gd name="adj" fmla="val 13986"/>
            </a:avLst>
          </a:prstGeom>
          <a:solidFill>
            <a:srgbClr val="6A9E5B">
              <a:alpha val="15000"/>
            </a:srgbClr>
          </a:solidFill>
          <a:ln w="15240">
            <a:solidFill>
              <a:srgbClr val="6A9E5B"/>
            </a:solidFill>
            <a:prstDash val="solid"/>
          </a:ln>
        </p:spPr>
      </p:sp>
      <p:sp>
        <p:nvSpPr>
          <p:cNvPr id="49" name="Text 47"/>
          <p:cNvSpPr/>
          <p:nvPr/>
        </p:nvSpPr>
        <p:spPr>
          <a:xfrm>
            <a:off x="6434450" y="3150108"/>
            <a:ext cx="1755648" cy="356616"/>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rodent species</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classifier</a:t>
            </a:r>
            <a:endParaRPr lang="en-US" sz="1000" dirty="0"/>
          </a:p>
        </p:txBody>
      </p:sp>
      <p:sp>
        <p:nvSpPr>
          <p:cNvPr id="50" name="Text 48"/>
          <p:cNvSpPr/>
          <p:nvPr/>
        </p:nvSpPr>
        <p:spPr>
          <a:xfrm>
            <a:off x="6434450" y="3477006"/>
            <a:ext cx="1755648" cy="178308"/>
          </a:xfrm>
          <a:prstGeom prst="rect">
            <a:avLst/>
          </a:prstGeom>
          <a:noFill/>
          <a:ln/>
        </p:spPr>
        <p:txBody>
          <a:bodyPr wrap="square" lIns="0" tIns="0" rIns="0" bIns="0" rtlCol="0" anchor="ctr"/>
          <a:lstStyle/>
          <a:p>
            <a:pPr algn="ctr" indent="0" marL="0">
              <a:lnSpc>
                <a:spcPct val="120000"/>
              </a:lnSpc>
              <a:buNone/>
            </a:pPr>
            <a:r>
              <a:rPr lang="en-US" sz="850" i="1" dirty="0">
                <a:solidFill>
                  <a:srgbClr val="5B6570"/>
                </a:solidFill>
                <a:latin typeface="Arial" pitchFamily="34" charset="0"/>
                <a:ea typeface="Arial" pitchFamily="34" charset="-122"/>
                <a:cs typeface="Arial" pitchFamily="34" charset="-120"/>
              </a:rPr>
              <a:t>rodents</a:t>
            </a:r>
            <a:endParaRPr lang="en-US" sz="850" dirty="0"/>
          </a:p>
        </p:txBody>
      </p:sp>
      <p:sp>
        <p:nvSpPr>
          <p:cNvPr id="51" name="Shape 49"/>
          <p:cNvSpPr/>
          <p:nvPr/>
        </p:nvSpPr>
        <p:spPr>
          <a:xfrm>
            <a:off x="2589581" y="4041648"/>
            <a:ext cx="166787" cy="178308"/>
          </a:xfrm>
          <a:prstGeom prst="roundRect">
            <a:avLst>
              <a:gd name="adj" fmla="val 27412"/>
            </a:avLst>
          </a:prstGeom>
          <a:solidFill>
            <a:srgbClr val="E69F00">
              <a:alpha val="50000"/>
            </a:srgbClr>
          </a:solidFill>
          <a:ln w="12700">
            <a:solidFill>
              <a:srgbClr val="E69F00"/>
            </a:solidFill>
            <a:prstDash val="solid"/>
          </a:ln>
        </p:spPr>
      </p:sp>
      <p:sp>
        <p:nvSpPr>
          <p:cNvPr id="52" name="Text 50"/>
          <p:cNvSpPr/>
          <p:nvPr/>
        </p:nvSpPr>
        <p:spPr>
          <a:xfrm>
            <a:off x="2835372" y="4029761"/>
            <a:ext cx="1228954" cy="202082"/>
          </a:xfrm>
          <a:prstGeom prst="rect">
            <a:avLst/>
          </a:prstGeom>
          <a:noFill/>
          <a:ln/>
        </p:spPr>
        <p:txBody>
          <a:bodyPr wrap="square" lIns="0" tIns="0" rIns="0" bIns="0" rtlCol="0" anchor="ctr"/>
          <a:lstStyle/>
          <a:p>
            <a:pPr algn="l" indent="0" marL="0">
              <a:lnSpc>
                <a:spcPct val="120000"/>
              </a:lnSpc>
              <a:buNone/>
            </a:pPr>
            <a:r>
              <a:rPr lang="en-US" sz="950" dirty="0">
                <a:solidFill>
                  <a:srgbClr val="5B6570"/>
                </a:solidFill>
                <a:latin typeface="Arial" pitchFamily="34" charset="0"/>
                <a:ea typeface="Arial" pitchFamily="34" charset="-122"/>
                <a:cs typeface="Arial" pitchFamily="34" charset="-120"/>
              </a:rPr>
              <a:t>iris (2)</a:t>
            </a:r>
            <a:endParaRPr lang="en-US" sz="950" dirty="0"/>
          </a:p>
        </p:txBody>
      </p:sp>
      <p:sp>
        <p:nvSpPr>
          <p:cNvPr id="53" name="Shape 51"/>
          <p:cNvSpPr/>
          <p:nvPr/>
        </p:nvSpPr>
        <p:spPr>
          <a:xfrm>
            <a:off x="3994099" y="4041648"/>
            <a:ext cx="166787" cy="178308"/>
          </a:xfrm>
          <a:prstGeom prst="roundRect">
            <a:avLst>
              <a:gd name="adj" fmla="val 27412"/>
            </a:avLst>
          </a:prstGeom>
          <a:solidFill>
            <a:srgbClr val="56B4E9">
              <a:alpha val="50000"/>
            </a:srgbClr>
          </a:solidFill>
          <a:ln w="12700">
            <a:solidFill>
              <a:srgbClr val="56B4E9"/>
            </a:solidFill>
            <a:prstDash val="solid"/>
          </a:ln>
        </p:spPr>
      </p:sp>
      <p:sp>
        <p:nvSpPr>
          <p:cNvPr id="54" name="Text 52"/>
          <p:cNvSpPr/>
          <p:nvPr/>
        </p:nvSpPr>
        <p:spPr>
          <a:xfrm>
            <a:off x="4239890" y="4029761"/>
            <a:ext cx="1228954" cy="202082"/>
          </a:xfrm>
          <a:prstGeom prst="rect">
            <a:avLst/>
          </a:prstGeom>
          <a:noFill/>
          <a:ln/>
        </p:spPr>
        <p:txBody>
          <a:bodyPr wrap="square" lIns="0" tIns="0" rIns="0" bIns="0" rtlCol="0" anchor="ctr"/>
          <a:lstStyle/>
          <a:p>
            <a:pPr algn="l" indent="0" marL="0">
              <a:lnSpc>
                <a:spcPct val="120000"/>
              </a:lnSpc>
              <a:buNone/>
            </a:pPr>
            <a:r>
              <a:rPr lang="en-US" sz="950" dirty="0">
                <a:solidFill>
                  <a:srgbClr val="5B6570"/>
                </a:solidFill>
                <a:latin typeface="Arial" pitchFamily="34" charset="0"/>
                <a:ea typeface="Arial" pitchFamily="34" charset="-122"/>
                <a:cs typeface="Arial" pitchFamily="34" charset="-120"/>
              </a:rPr>
              <a:t>penguins (3)</a:t>
            </a:r>
            <a:endParaRPr lang="en-US" sz="950" dirty="0"/>
          </a:p>
        </p:txBody>
      </p:sp>
      <p:sp>
        <p:nvSpPr>
          <p:cNvPr id="55" name="Shape 53"/>
          <p:cNvSpPr/>
          <p:nvPr/>
        </p:nvSpPr>
        <p:spPr>
          <a:xfrm>
            <a:off x="5398618" y="4041648"/>
            <a:ext cx="166787" cy="178308"/>
          </a:xfrm>
          <a:prstGeom prst="roundRect">
            <a:avLst>
              <a:gd name="adj" fmla="val 27412"/>
            </a:avLst>
          </a:prstGeom>
          <a:solidFill>
            <a:srgbClr val="6A9E5B">
              <a:alpha val="50000"/>
            </a:srgbClr>
          </a:solidFill>
          <a:ln w="12700">
            <a:solidFill>
              <a:srgbClr val="6A9E5B"/>
            </a:solidFill>
            <a:prstDash val="solid"/>
          </a:ln>
        </p:spPr>
      </p:sp>
      <p:sp>
        <p:nvSpPr>
          <p:cNvPr id="56" name="Text 54"/>
          <p:cNvSpPr/>
          <p:nvPr/>
        </p:nvSpPr>
        <p:spPr>
          <a:xfrm>
            <a:off x="5644408" y="4029761"/>
            <a:ext cx="1228954" cy="202082"/>
          </a:xfrm>
          <a:prstGeom prst="rect">
            <a:avLst/>
          </a:prstGeom>
          <a:noFill/>
          <a:ln/>
        </p:spPr>
        <p:txBody>
          <a:bodyPr wrap="square" lIns="0" tIns="0" rIns="0" bIns="0" rtlCol="0" anchor="ctr"/>
          <a:lstStyle/>
          <a:p>
            <a:pPr algn="l" indent="0" marL="0">
              <a:lnSpc>
                <a:spcPct val="120000"/>
              </a:lnSpc>
              <a:buNone/>
            </a:pPr>
            <a:r>
              <a:rPr lang="en-US" sz="950" dirty="0">
                <a:solidFill>
                  <a:srgbClr val="5B6570"/>
                </a:solidFill>
                <a:latin typeface="Arial" pitchFamily="34" charset="0"/>
                <a:ea typeface="Arial" pitchFamily="34" charset="-122"/>
                <a:cs typeface="Arial" pitchFamily="34" charset="-120"/>
              </a:rPr>
              <a:t>rodents (6)</a:t>
            </a:r>
            <a:endParaRPr lang="en-US" sz="950" dirty="0"/>
          </a:p>
        </p:txBody>
      </p:sp>
      <p:sp>
        <p:nvSpPr>
          <p:cNvPr id="57" name="Shape 55"/>
          <p:cNvSpPr/>
          <p:nvPr/>
        </p:nvSpPr>
        <p:spPr>
          <a:xfrm>
            <a:off x="6803136" y="4041648"/>
            <a:ext cx="166787" cy="178308"/>
          </a:xfrm>
          <a:prstGeom prst="roundRect">
            <a:avLst>
              <a:gd name="adj" fmla="val 27412"/>
            </a:avLst>
          </a:prstGeom>
          <a:solidFill>
            <a:srgbClr val="8C6BB1">
              <a:alpha val="50000"/>
            </a:srgbClr>
          </a:solidFill>
          <a:ln w="12700">
            <a:solidFill>
              <a:srgbClr val="8C6BB1"/>
            </a:solidFill>
            <a:prstDash val="solid"/>
          </a:ln>
        </p:spPr>
      </p:sp>
      <p:sp>
        <p:nvSpPr>
          <p:cNvPr id="58" name="Text 56"/>
          <p:cNvSpPr/>
          <p:nvPr/>
        </p:nvSpPr>
        <p:spPr>
          <a:xfrm>
            <a:off x="7048927" y="4029761"/>
            <a:ext cx="1228954" cy="202082"/>
          </a:xfrm>
          <a:prstGeom prst="rect">
            <a:avLst/>
          </a:prstGeom>
          <a:noFill/>
          <a:ln/>
        </p:spPr>
        <p:txBody>
          <a:bodyPr wrap="square" lIns="0" tIns="0" rIns="0" bIns="0" rtlCol="0" anchor="ctr"/>
          <a:lstStyle/>
          <a:p>
            <a:pPr algn="l" indent="0" marL="0">
              <a:lnSpc>
                <a:spcPct val="120000"/>
              </a:lnSpc>
              <a:buNone/>
            </a:pPr>
            <a:r>
              <a:rPr lang="en-US" sz="950" dirty="0">
                <a:solidFill>
                  <a:srgbClr val="5B6570"/>
                </a:solidFill>
                <a:latin typeface="Arial" pitchFamily="34" charset="0"/>
                <a:ea typeface="Arial" pitchFamily="34" charset="-122"/>
                <a:cs typeface="Arial" pitchFamily="34" charset="-120"/>
              </a:rPr>
              <a:t>reef fish (1)</a:t>
            </a:r>
            <a:endParaRPr lang="en-US" sz="950" dirty="0"/>
          </a:p>
        </p:txBody>
      </p:sp>
      <p:sp>
        <p:nvSpPr>
          <p:cNvPr id="59" name="Shape 57"/>
          <p:cNvSpPr/>
          <p:nvPr/>
        </p:nvSpPr>
        <p:spPr>
          <a:xfrm>
            <a:off x="227686" y="4750308"/>
            <a:ext cx="246888" cy="246888"/>
          </a:xfrm>
          <a:prstGeom prst="ellipse">
            <a:avLst/>
          </a:prstGeom>
          <a:solidFill>
            <a:srgbClr val="1F2D3A"/>
          </a:solidFill>
          <a:ln w="19050">
            <a:solidFill>
              <a:srgbClr val="FFFFFF"/>
            </a:solidFill>
            <a:prstDash val="solid"/>
          </a:ln>
        </p:spPr>
      </p:sp>
      <p:sp>
        <p:nvSpPr>
          <p:cNvPr id="60" name="Text 58"/>
          <p:cNvSpPr/>
          <p:nvPr/>
        </p:nvSpPr>
        <p:spPr>
          <a:xfrm>
            <a:off x="87782" y="4742993"/>
            <a:ext cx="526694" cy="261518"/>
          </a:xfrm>
          <a:prstGeom prst="rect">
            <a:avLst/>
          </a:prstGeom>
          <a:noFill/>
          <a:ln/>
        </p:spPr>
        <p:txBody>
          <a:bodyPr wrap="square" lIns="0" tIns="0" rIns="0" bIns="0" rtlCol="0" anchor="ctr"/>
          <a:lstStyle/>
          <a:p>
            <a:pPr algn="ctr" indent="0" marL="0">
              <a:lnSpc>
                <a:spcPct val="120000"/>
              </a:lnSpc>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61" name="Text 59"/>
          <p:cNvSpPr/>
          <p:nvPr/>
        </p:nvSpPr>
        <p:spPr>
          <a:xfrm>
            <a:off x="702259" y="4719218"/>
            <a:ext cx="7198157" cy="309067"/>
          </a:xfrm>
          <a:prstGeom prst="rect">
            <a:avLst/>
          </a:prstGeom>
          <a:noFill/>
          <a:ln/>
        </p:spPr>
        <p:txBody>
          <a:bodyPr wrap="square" lIns="0" tIns="0" rIns="0" bIns="0" rtlCol="0" anchor="ctr"/>
          <a:lstStyle/>
          <a:p>
            <a:pPr algn="l" indent="0" marL="0">
              <a:lnSpc>
                <a:spcPct val="120000"/>
              </a:lnSpc>
              <a:buNone/>
            </a:pPr>
            <a:r>
              <a:rPr lang="en-US" sz="1450" b="1" dirty="0">
                <a:solidFill>
                  <a:srgbClr val="1F2D3A"/>
                </a:solidFill>
                <a:latin typeface="Arial" pitchFamily="34" charset="0"/>
                <a:ea typeface="Arial" pitchFamily="34" charset="-122"/>
                <a:cs typeface="Arial" pitchFamily="34" charset="-120"/>
              </a:rPr>
              <a:t>A reference value for each task</a:t>
            </a:r>
            <a:endParaRPr lang="en-US" sz="1450" dirty="0"/>
          </a:p>
        </p:txBody>
      </p:sp>
      <p:sp>
        <p:nvSpPr>
          <p:cNvPr id="62" name="Text 60"/>
          <p:cNvSpPr/>
          <p:nvPr/>
        </p:nvSpPr>
        <p:spPr>
          <a:xfrm>
            <a:off x="702259" y="5052060"/>
            <a:ext cx="7724851" cy="285293"/>
          </a:xfrm>
          <a:prstGeom prst="rect">
            <a:avLst/>
          </a:prstGeom>
          <a:noFill/>
          <a:ln/>
        </p:spPr>
        <p:txBody>
          <a:bodyPr wrap="square" lIns="0" tIns="0" rIns="0" bIns="0" rtlCol="0" anchor="ctr"/>
          <a:lstStyle/>
          <a:p>
            <a:pPr algn="l" indent="0" marL="0">
              <a:lnSpc>
                <a:spcPct val="120000"/>
              </a:lnSpc>
              <a:buNone/>
            </a:pPr>
            <a:r>
              <a:rPr lang="en-US" sz="1100" dirty="0">
                <a:solidFill>
                  <a:srgbClr val="5B6570"/>
                </a:solidFill>
                <a:latin typeface="Arial" pitchFamily="34" charset="0"/>
                <a:ea typeface="Arial" pitchFamily="34" charset="-122"/>
                <a:cs typeface="Arial" pitchFamily="34" charset="-120"/>
              </a:rPr>
              <a:t>so that a number returned by a run can be judged right or wrong</a:t>
            </a:r>
            <a:endParaRPr lang="en-US" sz="1100" dirty="0"/>
          </a:p>
        </p:txBody>
      </p:sp>
      <p:sp>
        <p:nvSpPr>
          <p:cNvPr id="63" name="Shape 61"/>
          <p:cNvSpPr/>
          <p:nvPr/>
        </p:nvSpPr>
        <p:spPr>
          <a:xfrm>
            <a:off x="2545690" y="5468112"/>
            <a:ext cx="1492301" cy="713232"/>
          </a:xfrm>
          <a:prstGeom prst="roundRect">
            <a:avLst>
              <a:gd name="adj" fmla="val 10256"/>
            </a:avLst>
          </a:prstGeom>
          <a:solidFill>
            <a:srgbClr val="F5F7F9"/>
          </a:solidFill>
          <a:ln w="12700">
            <a:solidFill>
              <a:srgbClr val="D5DBE0"/>
            </a:solidFill>
            <a:prstDash val="solid"/>
          </a:ln>
        </p:spPr>
      </p:sp>
      <p:sp>
        <p:nvSpPr>
          <p:cNvPr id="64" name="Text 62"/>
          <p:cNvSpPr/>
          <p:nvPr/>
        </p:nvSpPr>
        <p:spPr>
          <a:xfrm>
            <a:off x="2589581" y="5634533"/>
            <a:ext cx="1404518" cy="380390"/>
          </a:xfrm>
          <a:prstGeom prst="rect">
            <a:avLst/>
          </a:prstGeom>
          <a:noFill/>
          <a:ln/>
        </p:spPr>
        <p:txBody>
          <a:bodyPr wrap="square" lIns="0" tIns="0" rIns="0" bIns="0" rtlCol="0" anchor="ctr"/>
          <a:lstStyle/>
          <a:p>
            <a:pPr algn="ctr" indent="0" marL="0">
              <a:lnSpc>
                <a:spcPct val="120000"/>
              </a:lnSpc>
              <a:buNone/>
            </a:pPr>
            <a:r>
              <a:rPr lang="en-US" sz="1050" dirty="0">
                <a:solidFill>
                  <a:srgbClr val="1F2D3A"/>
                </a:solidFill>
                <a:latin typeface="Arial" pitchFamily="34" charset="0"/>
                <a:ea typeface="Arial" pitchFamily="34" charset="-122"/>
                <a:cs typeface="Arial" pitchFamily="34" charset="-120"/>
              </a:rPr>
              <a:t>the quantity</a:t>
            </a:r>
            <a:endParaRPr lang="en-US" sz="1050" dirty="0"/>
          </a:p>
          <a:p>
            <a:pPr algn="ctr" indent="0" marL="0">
              <a:lnSpc>
                <a:spcPct val="120000"/>
              </a:lnSpc>
              <a:buNone/>
            </a:pPr>
            <a:r>
              <a:rPr lang="en-US" sz="1050" dirty="0">
                <a:solidFill>
                  <a:srgbClr val="1F2D3A"/>
                </a:solidFill>
                <a:latin typeface="Arial" pitchFamily="34" charset="0"/>
                <a:ea typeface="Arial" pitchFamily="34" charset="-122"/>
                <a:cs typeface="Arial" pitchFamily="34" charset="-120"/>
              </a:rPr>
              <a:t>stated in words</a:t>
            </a:r>
            <a:endParaRPr lang="en-US" sz="1050" dirty="0"/>
          </a:p>
        </p:txBody>
      </p:sp>
      <p:sp>
        <p:nvSpPr>
          <p:cNvPr id="65" name="Shape 63"/>
          <p:cNvSpPr/>
          <p:nvPr/>
        </p:nvSpPr>
        <p:spPr>
          <a:xfrm>
            <a:off x="4108216" y="5824728"/>
            <a:ext cx="210678" cy="0"/>
          </a:xfrm>
          <a:prstGeom prst="line">
            <a:avLst/>
          </a:prstGeom>
          <a:noFill/>
          <a:ln w="15240">
            <a:solidFill>
              <a:srgbClr val="5B6570"/>
            </a:solidFill>
            <a:prstDash val="solid"/>
            <a:tailEnd type="triangle"/>
          </a:ln>
        </p:spPr>
      </p:sp>
      <p:sp>
        <p:nvSpPr>
          <p:cNvPr id="66" name="Shape 64"/>
          <p:cNvSpPr/>
          <p:nvPr/>
        </p:nvSpPr>
        <p:spPr>
          <a:xfrm>
            <a:off x="4389120" y="5468112"/>
            <a:ext cx="2062886" cy="309067"/>
          </a:xfrm>
          <a:prstGeom prst="roundRect">
            <a:avLst>
              <a:gd name="adj" fmla="val 20710"/>
            </a:avLst>
          </a:prstGeom>
          <a:solidFill>
            <a:srgbClr val="FFFFFF"/>
          </a:solidFill>
          <a:ln w="15240">
            <a:solidFill>
              <a:srgbClr val="009E73"/>
            </a:solidFill>
            <a:prstDash val="solid"/>
          </a:ln>
        </p:spPr>
      </p:sp>
      <p:sp>
        <p:nvSpPr>
          <p:cNvPr id="67" name="Text 65"/>
          <p:cNvSpPr/>
          <p:nvPr/>
        </p:nvSpPr>
        <p:spPr>
          <a:xfrm>
            <a:off x="4411066" y="5491886"/>
            <a:ext cx="2018995" cy="261518"/>
          </a:xfrm>
          <a:prstGeom prst="rect">
            <a:avLst/>
          </a:prstGeom>
          <a:noFill/>
          <a:ln/>
        </p:spPr>
        <p:txBody>
          <a:bodyPr wrap="square" lIns="0" tIns="0" rIns="0" bIns="0" rtlCol="0" anchor="ctr"/>
          <a:lstStyle/>
          <a:p>
            <a:pPr algn="ctr" indent="0" marL="0">
              <a:lnSpc>
                <a:spcPct val="120000"/>
              </a:lnSpc>
              <a:buNone/>
            </a:pPr>
            <a:r>
              <a:rPr lang="en-US" sz="980" dirty="0">
                <a:solidFill>
                  <a:srgbClr val="009E73"/>
                </a:solidFill>
                <a:latin typeface="Arial" pitchFamily="34" charset="0"/>
                <a:ea typeface="Arial" pitchFamily="34" charset="-122"/>
                <a:cs typeface="Arial" pitchFamily="34" charset="-120"/>
              </a:rPr>
              <a:t>implementation using a library</a:t>
            </a:r>
            <a:endParaRPr lang="en-US" sz="980" dirty="0"/>
          </a:p>
        </p:txBody>
      </p:sp>
      <p:sp>
        <p:nvSpPr>
          <p:cNvPr id="68" name="Shape 66"/>
          <p:cNvSpPr/>
          <p:nvPr/>
        </p:nvSpPr>
        <p:spPr>
          <a:xfrm>
            <a:off x="4389120" y="5872277"/>
            <a:ext cx="2062886" cy="309067"/>
          </a:xfrm>
          <a:prstGeom prst="roundRect">
            <a:avLst>
              <a:gd name="adj" fmla="val 20710"/>
            </a:avLst>
          </a:prstGeom>
          <a:solidFill>
            <a:srgbClr val="FFFFFF"/>
          </a:solidFill>
          <a:ln w="15240">
            <a:solidFill>
              <a:srgbClr val="009E73"/>
            </a:solidFill>
            <a:prstDash val="solid"/>
          </a:ln>
        </p:spPr>
      </p:sp>
      <p:sp>
        <p:nvSpPr>
          <p:cNvPr id="69" name="Text 67"/>
          <p:cNvSpPr/>
          <p:nvPr/>
        </p:nvSpPr>
        <p:spPr>
          <a:xfrm>
            <a:off x="4411066" y="5896051"/>
            <a:ext cx="2018995" cy="261518"/>
          </a:xfrm>
          <a:prstGeom prst="rect">
            <a:avLst/>
          </a:prstGeom>
          <a:noFill/>
          <a:ln/>
        </p:spPr>
        <p:txBody>
          <a:bodyPr wrap="square" lIns="0" tIns="0" rIns="0" bIns="0" rtlCol="0" anchor="ctr"/>
          <a:lstStyle/>
          <a:p>
            <a:pPr algn="ctr" indent="0" marL="0">
              <a:lnSpc>
                <a:spcPct val="120000"/>
              </a:lnSpc>
              <a:buNone/>
            </a:pPr>
            <a:r>
              <a:rPr lang="en-US" sz="980" dirty="0">
                <a:solidFill>
                  <a:srgbClr val="009E73"/>
                </a:solidFill>
                <a:latin typeface="Arial" pitchFamily="34" charset="0"/>
                <a:ea typeface="Arial" pitchFamily="34" charset="-122"/>
                <a:cs typeface="Arial" pitchFamily="34" charset="-120"/>
              </a:rPr>
              <a:t>implementation as a direct loop</a:t>
            </a:r>
            <a:endParaRPr lang="en-US" sz="980" dirty="0"/>
          </a:p>
        </p:txBody>
      </p:sp>
      <p:sp>
        <p:nvSpPr>
          <p:cNvPr id="70" name="Shape 68"/>
          <p:cNvSpPr/>
          <p:nvPr/>
        </p:nvSpPr>
        <p:spPr>
          <a:xfrm>
            <a:off x="6522232" y="5824728"/>
            <a:ext cx="210678" cy="0"/>
          </a:xfrm>
          <a:prstGeom prst="line">
            <a:avLst/>
          </a:prstGeom>
          <a:noFill/>
          <a:ln w="15240">
            <a:solidFill>
              <a:srgbClr val="5B6570"/>
            </a:solidFill>
            <a:prstDash val="solid"/>
            <a:tailEnd type="triangle"/>
          </a:ln>
        </p:spPr>
      </p:sp>
      <p:sp>
        <p:nvSpPr>
          <p:cNvPr id="71" name="Shape 69"/>
          <p:cNvSpPr/>
          <p:nvPr/>
        </p:nvSpPr>
        <p:spPr>
          <a:xfrm>
            <a:off x="6803136" y="5468112"/>
            <a:ext cx="1536192" cy="713232"/>
          </a:xfrm>
          <a:prstGeom prst="roundRect">
            <a:avLst>
              <a:gd name="adj" fmla="val 10256"/>
            </a:avLst>
          </a:prstGeom>
          <a:solidFill>
            <a:srgbClr val="FFFFFF"/>
          </a:solidFill>
          <a:ln w="20320">
            <a:solidFill>
              <a:srgbClr val="009E73"/>
            </a:solidFill>
            <a:prstDash val="solid"/>
          </a:ln>
        </p:spPr>
      </p:sp>
      <p:sp>
        <p:nvSpPr>
          <p:cNvPr id="72" name="Text 70"/>
          <p:cNvSpPr/>
          <p:nvPr/>
        </p:nvSpPr>
        <p:spPr>
          <a:xfrm>
            <a:off x="6825082" y="5575097"/>
            <a:ext cx="1492301" cy="237744"/>
          </a:xfrm>
          <a:prstGeom prst="rect">
            <a:avLst/>
          </a:prstGeom>
          <a:noFill/>
          <a:ln/>
        </p:spPr>
        <p:txBody>
          <a:bodyPr wrap="square" lIns="0" tIns="0" rIns="0" bIns="0" rtlCol="0" anchor="ctr"/>
          <a:lstStyle/>
          <a:p>
            <a:pPr algn="ctr" indent="0" marL="0">
              <a:lnSpc>
                <a:spcPct val="120000"/>
              </a:lnSpc>
              <a:buNone/>
            </a:pPr>
            <a:r>
              <a:rPr lang="en-US" sz="1050" b="1" dirty="0">
                <a:solidFill>
                  <a:srgbClr val="009E73"/>
                </a:solidFill>
                <a:latin typeface="Arial" pitchFamily="34" charset="0"/>
                <a:ea typeface="Arial" pitchFamily="34" charset="-122"/>
                <a:cs typeface="Arial" pitchFamily="34" charset="-120"/>
              </a:rPr>
              <a:t>accepted only</a:t>
            </a:r>
            <a:endParaRPr lang="en-US" sz="1050" dirty="0"/>
          </a:p>
        </p:txBody>
      </p:sp>
      <p:sp>
        <p:nvSpPr>
          <p:cNvPr id="73" name="Text 71"/>
          <p:cNvSpPr/>
          <p:nvPr/>
        </p:nvSpPr>
        <p:spPr>
          <a:xfrm>
            <a:off x="6825082" y="5836615"/>
            <a:ext cx="1492301" cy="237744"/>
          </a:xfrm>
          <a:prstGeom prst="rect">
            <a:avLst/>
          </a:prstGeom>
          <a:noFill/>
          <a:ln/>
        </p:spPr>
        <p:txBody>
          <a:bodyPr wrap="square" lIns="0" tIns="0" rIns="0" bIns="0" rtlCol="0" anchor="ctr"/>
          <a:lstStyle/>
          <a:p>
            <a:pPr algn="ctr" indent="0" marL="0">
              <a:lnSpc>
                <a:spcPct val="120000"/>
              </a:lnSpc>
              <a:buNone/>
            </a:pPr>
            <a:r>
              <a:rPr lang="en-US" sz="1050" dirty="0">
                <a:solidFill>
                  <a:srgbClr val="009E73"/>
                </a:solidFill>
                <a:latin typeface="Arial" pitchFamily="34" charset="0"/>
                <a:ea typeface="Arial" pitchFamily="34" charset="-122"/>
                <a:cs typeface="Arial" pitchFamily="34" charset="-120"/>
              </a:rPr>
              <a:t>where the two agree</a:t>
            </a:r>
            <a:endParaRPr lang="en-US" sz="1050" dirty="0"/>
          </a:p>
        </p:txBody>
      </p:sp>
      <p:sp>
        <p:nvSpPr>
          <p:cNvPr id="74" name="Text 72"/>
          <p:cNvSpPr/>
          <p:nvPr/>
        </p:nvSpPr>
        <p:spPr>
          <a:xfrm>
            <a:off x="2721254" y="6335878"/>
            <a:ext cx="5442509" cy="237744"/>
          </a:xfrm>
          <a:prstGeom prst="rect">
            <a:avLst/>
          </a:prstGeom>
          <a:noFill/>
          <a:ln/>
        </p:spPr>
        <p:txBody>
          <a:bodyPr wrap="square" lIns="0" tIns="0" rIns="0" bIns="0" rtlCol="0" anchor="ctr"/>
          <a:lstStyle/>
          <a:p>
            <a:pPr algn="ctr" indent="0" marL="0">
              <a:lnSpc>
                <a:spcPct val="120000"/>
              </a:lnSpc>
              <a:buNone/>
            </a:pPr>
            <a:r>
              <a:rPr lang="en-US" sz="950" i="1" dirty="0">
                <a:solidFill>
                  <a:srgbClr val="5B6570"/>
                </a:solidFill>
                <a:latin typeface="Arial" pitchFamily="34" charset="0"/>
                <a:ea typeface="Arial" pitchFamily="34" charset="-122"/>
                <a:cs typeface="Arial" pitchFamily="34" charset="-120"/>
              </a:rPr>
              <a:t>the two implementations were written independently of one another</a:t>
            </a:r>
            <a:endParaRPr lang="en-US" sz="950" dirty="0"/>
          </a:p>
        </p:txBody>
      </p:sp>
      <p:sp>
        <p:nvSpPr>
          <p:cNvPr id="75" name="Shape 73"/>
          <p:cNvSpPr/>
          <p:nvPr/>
        </p:nvSpPr>
        <p:spPr>
          <a:xfrm>
            <a:off x="227686" y="7068312"/>
            <a:ext cx="246888" cy="246888"/>
          </a:xfrm>
          <a:prstGeom prst="ellipse">
            <a:avLst/>
          </a:prstGeom>
          <a:solidFill>
            <a:srgbClr val="1F2D3A"/>
          </a:solidFill>
          <a:ln w="19050">
            <a:solidFill>
              <a:srgbClr val="FFFFFF"/>
            </a:solidFill>
            <a:prstDash val="solid"/>
          </a:ln>
        </p:spPr>
      </p:sp>
      <p:sp>
        <p:nvSpPr>
          <p:cNvPr id="76" name="Text 74"/>
          <p:cNvSpPr/>
          <p:nvPr/>
        </p:nvSpPr>
        <p:spPr>
          <a:xfrm>
            <a:off x="87782" y="7060997"/>
            <a:ext cx="526694" cy="261518"/>
          </a:xfrm>
          <a:prstGeom prst="rect">
            <a:avLst/>
          </a:prstGeom>
          <a:noFill/>
          <a:ln/>
        </p:spPr>
        <p:txBody>
          <a:bodyPr wrap="square" lIns="0" tIns="0" rIns="0" bIns="0" rtlCol="0" anchor="ctr"/>
          <a:lstStyle/>
          <a:p>
            <a:pPr algn="ctr" indent="0" marL="0">
              <a:lnSpc>
                <a:spcPct val="120000"/>
              </a:lnSpc>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77" name="Text 75"/>
          <p:cNvSpPr/>
          <p:nvPr/>
        </p:nvSpPr>
        <p:spPr>
          <a:xfrm>
            <a:off x="702259" y="7037222"/>
            <a:ext cx="7198157" cy="309067"/>
          </a:xfrm>
          <a:prstGeom prst="rect">
            <a:avLst/>
          </a:prstGeom>
          <a:noFill/>
          <a:ln/>
        </p:spPr>
        <p:txBody>
          <a:bodyPr wrap="square" lIns="0" tIns="0" rIns="0" bIns="0" rtlCol="0" anchor="ctr"/>
          <a:lstStyle/>
          <a:p>
            <a:pPr algn="l" indent="0" marL="0">
              <a:lnSpc>
                <a:spcPct val="120000"/>
              </a:lnSpc>
              <a:buNone/>
            </a:pPr>
            <a:r>
              <a:rPr lang="en-US" sz="1450" b="1" dirty="0">
                <a:solidFill>
                  <a:srgbClr val="1F2D3A"/>
                </a:solidFill>
                <a:latin typeface="Arial" pitchFamily="34" charset="0"/>
                <a:ea typeface="Arial" pitchFamily="34" charset="-122"/>
                <a:cs typeface="Arial" pitchFamily="34" charset="-120"/>
              </a:rPr>
              <a:t>Every task presented under three conditions</a:t>
            </a:r>
            <a:endParaRPr lang="en-US" sz="1450" dirty="0"/>
          </a:p>
        </p:txBody>
      </p:sp>
      <p:sp>
        <p:nvSpPr>
          <p:cNvPr id="78" name="Text 76"/>
          <p:cNvSpPr/>
          <p:nvPr/>
        </p:nvSpPr>
        <p:spPr>
          <a:xfrm>
            <a:off x="702259" y="7370064"/>
            <a:ext cx="7724851" cy="285293"/>
          </a:xfrm>
          <a:prstGeom prst="rect">
            <a:avLst/>
          </a:prstGeom>
          <a:noFill/>
          <a:ln/>
        </p:spPr>
        <p:txBody>
          <a:bodyPr wrap="square" lIns="0" tIns="0" rIns="0" bIns="0" rtlCol="0" anchor="ctr"/>
          <a:lstStyle/>
          <a:p>
            <a:pPr algn="l" indent="0" marL="0">
              <a:lnSpc>
                <a:spcPct val="120000"/>
              </a:lnSpc>
              <a:buNone/>
            </a:pPr>
            <a:r>
              <a:rPr lang="en-US" sz="1100" dirty="0">
                <a:solidFill>
                  <a:srgbClr val="5B6570"/>
                </a:solidFill>
                <a:latin typeface="Arial" pitchFamily="34" charset="0"/>
                <a:ea typeface="Arial" pitchFamily="34" charset="-122"/>
                <a:cs typeface="Arial" pitchFamily="34" charset="-120"/>
              </a:rPr>
              <a:t>the second gives the standing recommendation to share code a fair trial</a:t>
            </a:r>
            <a:endParaRPr lang="en-US" sz="1100" dirty="0"/>
          </a:p>
        </p:txBody>
      </p:sp>
      <p:sp>
        <p:nvSpPr>
          <p:cNvPr id="79" name="Shape 77"/>
          <p:cNvSpPr/>
          <p:nvPr/>
        </p:nvSpPr>
        <p:spPr>
          <a:xfrm>
            <a:off x="2545690" y="7726680"/>
            <a:ext cx="1887322" cy="1188720"/>
          </a:xfrm>
          <a:prstGeom prst="roundRect">
            <a:avLst>
              <a:gd name="adj" fmla="val 6154"/>
            </a:avLst>
          </a:prstGeom>
          <a:solidFill>
            <a:srgbClr val="FFFFFF"/>
          </a:solidFill>
          <a:ln w="20320">
            <a:solidFill>
              <a:srgbClr val="D55E00"/>
            </a:solidFill>
            <a:prstDash val="solid"/>
          </a:ln>
        </p:spPr>
      </p:sp>
      <p:sp>
        <p:nvSpPr>
          <p:cNvPr id="80" name="Shape 78"/>
          <p:cNvSpPr/>
          <p:nvPr/>
        </p:nvSpPr>
        <p:spPr>
          <a:xfrm>
            <a:off x="2545690" y="7726680"/>
            <a:ext cx="1887322" cy="285293"/>
          </a:xfrm>
          <a:prstGeom prst="roundRect">
            <a:avLst>
              <a:gd name="adj" fmla="val 25641"/>
            </a:avLst>
          </a:prstGeom>
          <a:solidFill>
            <a:srgbClr val="D55E00">
              <a:alpha val="15000"/>
            </a:srgbClr>
          </a:solidFill>
          <a:ln w="20320">
            <a:solidFill>
              <a:srgbClr val="D55E00"/>
            </a:solidFill>
            <a:prstDash val="solid"/>
          </a:ln>
        </p:spPr>
      </p:sp>
      <p:sp>
        <p:nvSpPr>
          <p:cNvPr id="81" name="Text 79"/>
          <p:cNvSpPr/>
          <p:nvPr/>
        </p:nvSpPr>
        <p:spPr>
          <a:xfrm>
            <a:off x="2589581" y="7750454"/>
            <a:ext cx="1799539" cy="237744"/>
          </a:xfrm>
          <a:prstGeom prst="rect">
            <a:avLst/>
          </a:prstGeom>
          <a:noFill/>
          <a:ln/>
        </p:spPr>
        <p:txBody>
          <a:bodyPr wrap="square" lIns="0" tIns="0" rIns="0" bIns="0" rtlCol="0" anchor="ctr"/>
          <a:lstStyle/>
          <a:p>
            <a:pPr algn="ctr" indent="0" marL="0">
              <a:lnSpc>
                <a:spcPct val="120000"/>
              </a:lnSpc>
              <a:buNone/>
            </a:pPr>
            <a:r>
              <a:rPr lang="en-US" sz="1150" b="1" dirty="0">
                <a:solidFill>
                  <a:srgbClr val="D55E00"/>
                </a:solidFill>
                <a:latin typeface="Arial" pitchFamily="34" charset="0"/>
                <a:ea typeface="Arial" pitchFamily="34" charset="-122"/>
                <a:cs typeface="Arial" pitchFamily="34" charset="-120"/>
              </a:rPr>
              <a:t>Question alone</a:t>
            </a:r>
            <a:endParaRPr lang="en-US" sz="1150" dirty="0"/>
          </a:p>
        </p:txBody>
      </p:sp>
      <p:sp>
        <p:nvSpPr>
          <p:cNvPr id="82" name="Text 80"/>
          <p:cNvSpPr/>
          <p:nvPr/>
        </p:nvSpPr>
        <p:spPr>
          <a:xfrm>
            <a:off x="2611526" y="8130845"/>
            <a:ext cx="1755648" cy="665683"/>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the question, the column</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names and the first rows</a:t>
            </a:r>
            <a:endParaRPr lang="en-US" sz="1000" dirty="0"/>
          </a:p>
        </p:txBody>
      </p:sp>
      <p:sp>
        <p:nvSpPr>
          <p:cNvPr id="83" name="Shape 81"/>
          <p:cNvSpPr/>
          <p:nvPr/>
        </p:nvSpPr>
        <p:spPr>
          <a:xfrm>
            <a:off x="4520794" y="7726680"/>
            <a:ext cx="1887322" cy="1188720"/>
          </a:xfrm>
          <a:prstGeom prst="roundRect">
            <a:avLst>
              <a:gd name="adj" fmla="val 6154"/>
            </a:avLst>
          </a:prstGeom>
          <a:solidFill>
            <a:srgbClr val="FFFFFF"/>
          </a:solidFill>
          <a:ln w="20320">
            <a:solidFill>
              <a:srgbClr val="CC79A7"/>
            </a:solidFill>
            <a:prstDash val="solid"/>
          </a:ln>
        </p:spPr>
      </p:sp>
      <p:sp>
        <p:nvSpPr>
          <p:cNvPr id="84" name="Shape 82"/>
          <p:cNvSpPr/>
          <p:nvPr/>
        </p:nvSpPr>
        <p:spPr>
          <a:xfrm>
            <a:off x="4520794" y="7726680"/>
            <a:ext cx="1887322" cy="285293"/>
          </a:xfrm>
          <a:prstGeom prst="roundRect">
            <a:avLst>
              <a:gd name="adj" fmla="val 25641"/>
            </a:avLst>
          </a:prstGeom>
          <a:solidFill>
            <a:srgbClr val="CC79A7">
              <a:alpha val="15000"/>
            </a:srgbClr>
          </a:solidFill>
          <a:ln w="20320">
            <a:solidFill>
              <a:srgbClr val="CC79A7"/>
            </a:solidFill>
            <a:prstDash val="solid"/>
          </a:ln>
        </p:spPr>
      </p:sp>
      <p:sp>
        <p:nvSpPr>
          <p:cNvPr id="85" name="Text 83"/>
          <p:cNvSpPr/>
          <p:nvPr/>
        </p:nvSpPr>
        <p:spPr>
          <a:xfrm>
            <a:off x="4564685" y="7750454"/>
            <a:ext cx="1799539" cy="237744"/>
          </a:xfrm>
          <a:prstGeom prst="rect">
            <a:avLst/>
          </a:prstGeom>
          <a:noFill/>
          <a:ln/>
        </p:spPr>
        <p:txBody>
          <a:bodyPr wrap="square" lIns="0" tIns="0" rIns="0" bIns="0" rtlCol="0" anchor="ctr"/>
          <a:lstStyle/>
          <a:p>
            <a:pPr algn="ctr" indent="0" marL="0">
              <a:lnSpc>
                <a:spcPct val="120000"/>
              </a:lnSpc>
              <a:buNone/>
            </a:pPr>
            <a:r>
              <a:rPr lang="en-US" sz="1150" b="1" dirty="0">
                <a:solidFill>
                  <a:srgbClr val="CC79A7"/>
                </a:solidFill>
                <a:latin typeface="Arial" pitchFamily="34" charset="0"/>
                <a:ea typeface="Arial" pitchFamily="34" charset="-122"/>
                <a:cs typeface="Arial" pitchFamily="34" charset="-120"/>
              </a:rPr>
              <a:t>With a script</a:t>
            </a:r>
            <a:endParaRPr lang="en-US" sz="1150" dirty="0"/>
          </a:p>
        </p:txBody>
      </p:sp>
      <p:sp>
        <p:nvSpPr>
          <p:cNvPr id="86" name="Text 84"/>
          <p:cNvSpPr/>
          <p:nvPr/>
        </p:nvSpPr>
        <p:spPr>
          <a:xfrm>
            <a:off x="4586630" y="8130845"/>
            <a:ext cx="1755648" cy="665683"/>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the same, and a working</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script for a different task</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of the same kind</a:t>
            </a:r>
            <a:endParaRPr lang="en-US" sz="1000" dirty="0"/>
          </a:p>
        </p:txBody>
      </p:sp>
      <p:sp>
        <p:nvSpPr>
          <p:cNvPr id="87" name="Shape 85"/>
          <p:cNvSpPr/>
          <p:nvPr/>
        </p:nvSpPr>
        <p:spPr>
          <a:xfrm>
            <a:off x="6495898" y="7726680"/>
            <a:ext cx="1887322" cy="1188720"/>
          </a:xfrm>
          <a:prstGeom prst="roundRect">
            <a:avLst>
              <a:gd name="adj" fmla="val 6154"/>
            </a:avLst>
          </a:prstGeom>
          <a:solidFill>
            <a:srgbClr val="FFFFFF"/>
          </a:solidFill>
          <a:ln w="20320">
            <a:solidFill>
              <a:srgbClr val="0072B2"/>
            </a:solidFill>
            <a:prstDash val="solid"/>
          </a:ln>
        </p:spPr>
      </p:sp>
      <p:sp>
        <p:nvSpPr>
          <p:cNvPr id="88" name="Shape 86"/>
          <p:cNvSpPr/>
          <p:nvPr/>
        </p:nvSpPr>
        <p:spPr>
          <a:xfrm>
            <a:off x="6495898" y="7726680"/>
            <a:ext cx="1887322" cy="285293"/>
          </a:xfrm>
          <a:prstGeom prst="roundRect">
            <a:avLst>
              <a:gd name="adj" fmla="val 25641"/>
            </a:avLst>
          </a:prstGeom>
          <a:solidFill>
            <a:srgbClr val="0072B2">
              <a:alpha val="15000"/>
            </a:srgbClr>
          </a:solidFill>
          <a:ln w="20320">
            <a:solidFill>
              <a:srgbClr val="0072B2"/>
            </a:solidFill>
            <a:prstDash val="solid"/>
          </a:ln>
        </p:spPr>
      </p:sp>
      <p:sp>
        <p:nvSpPr>
          <p:cNvPr id="89" name="Text 87"/>
          <p:cNvSpPr/>
          <p:nvPr/>
        </p:nvSpPr>
        <p:spPr>
          <a:xfrm>
            <a:off x="6539789" y="7750454"/>
            <a:ext cx="1799539" cy="237744"/>
          </a:xfrm>
          <a:prstGeom prst="rect">
            <a:avLst/>
          </a:prstGeom>
          <a:noFill/>
          <a:ln/>
        </p:spPr>
        <p:txBody>
          <a:bodyPr wrap="square" lIns="0" tIns="0" rIns="0" bIns="0" rtlCol="0" anchor="ctr"/>
          <a:lstStyle/>
          <a:p>
            <a:pPr algn="ctr" indent="0" marL="0">
              <a:lnSpc>
                <a:spcPct val="120000"/>
              </a:lnSpc>
              <a:buNone/>
            </a:pPr>
            <a:r>
              <a:rPr lang="en-US" sz="1150" b="1" dirty="0">
                <a:solidFill>
                  <a:srgbClr val="0072B2"/>
                </a:solidFill>
                <a:latin typeface="Arial" pitchFamily="34" charset="0"/>
                <a:ea typeface="Arial" pitchFamily="34" charset="-122"/>
                <a:cs typeface="Arial" pitchFamily="34" charset="-120"/>
              </a:rPr>
              <a:t>With a specification</a:t>
            </a:r>
            <a:endParaRPr lang="en-US" sz="1150" dirty="0"/>
          </a:p>
        </p:txBody>
      </p:sp>
      <p:sp>
        <p:nvSpPr>
          <p:cNvPr id="90" name="Text 88"/>
          <p:cNvSpPr/>
          <p:nvPr/>
        </p:nvSpPr>
        <p:spPr>
          <a:xfrm>
            <a:off x="6561734" y="8130845"/>
            <a:ext cx="1755648" cy="665683"/>
          </a:xfrm>
          <a:prstGeom prst="rect">
            <a:avLst/>
          </a:prstGeom>
          <a:noFill/>
          <a:ln/>
        </p:spPr>
        <p:txBody>
          <a:bodyPr wrap="square" lIns="0" tIns="0" rIns="0" bIns="0" rtlCol="0" anchor="ctr"/>
          <a:lstStyle/>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the same, and the method</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written out in words,</a:t>
            </a:r>
            <a:endParaRPr lang="en-US" sz="1000" dirty="0"/>
          </a:p>
          <a:p>
            <a:pPr algn="ctr" indent="0" marL="0">
              <a:lnSpc>
                <a:spcPct val="120000"/>
              </a:lnSpc>
              <a:buNone/>
            </a:pPr>
            <a:r>
              <a:rPr lang="en-US" sz="1000" dirty="0">
                <a:solidFill>
                  <a:srgbClr val="1F2D3A"/>
                </a:solidFill>
                <a:latin typeface="Arial" pitchFamily="34" charset="0"/>
                <a:ea typeface="Arial" pitchFamily="34" charset="-122"/>
                <a:cs typeface="Arial" pitchFamily="34" charset="-120"/>
              </a:rPr>
              <a:t>with no code</a:t>
            </a:r>
            <a:endParaRPr lang="en-US" sz="1000" dirty="0"/>
          </a:p>
        </p:txBody>
      </p:sp>
      <p:sp>
        <p:nvSpPr>
          <p:cNvPr id="91" name="Text 89"/>
          <p:cNvSpPr/>
          <p:nvPr/>
        </p:nvSpPr>
        <p:spPr>
          <a:xfrm>
            <a:off x="2633472" y="9069934"/>
            <a:ext cx="5618074" cy="237744"/>
          </a:xfrm>
          <a:prstGeom prst="rect">
            <a:avLst/>
          </a:prstGeom>
          <a:noFill/>
          <a:ln/>
        </p:spPr>
        <p:txBody>
          <a:bodyPr wrap="square" lIns="0" tIns="0" rIns="0" bIns="0" rtlCol="0" anchor="ctr"/>
          <a:lstStyle/>
          <a:p>
            <a:pPr algn="ctr" indent="0" marL="0">
              <a:lnSpc>
                <a:spcPct val="120000"/>
              </a:lnSpc>
              <a:buNone/>
            </a:pPr>
            <a:r>
              <a:rPr lang="en-US" sz="950" i="1" dirty="0">
                <a:solidFill>
                  <a:srgbClr val="5B6570"/>
                </a:solidFill>
                <a:latin typeface="Arial" pitchFamily="34" charset="0"/>
                <a:ea typeface="Arial" pitchFamily="34" charset="-122"/>
                <a:cs typeface="Arial" pitchFamily="34" charset="-120"/>
              </a:rPr>
              <a:t>no run ever received a script that solves the task in front of it</a:t>
            </a:r>
            <a:endParaRPr lang="en-US" sz="950" dirty="0"/>
          </a:p>
        </p:txBody>
      </p:sp>
      <p:sp>
        <p:nvSpPr>
          <p:cNvPr id="92" name="Shape 90"/>
          <p:cNvSpPr/>
          <p:nvPr/>
        </p:nvSpPr>
        <p:spPr>
          <a:xfrm>
            <a:off x="227686" y="9505188"/>
            <a:ext cx="246888" cy="246888"/>
          </a:xfrm>
          <a:prstGeom prst="ellipse">
            <a:avLst/>
          </a:prstGeom>
          <a:solidFill>
            <a:srgbClr val="1F2D3A"/>
          </a:solidFill>
          <a:ln w="19050">
            <a:solidFill>
              <a:srgbClr val="FFFFFF"/>
            </a:solidFill>
            <a:prstDash val="solid"/>
          </a:ln>
        </p:spPr>
      </p:sp>
      <p:sp>
        <p:nvSpPr>
          <p:cNvPr id="93" name="Text 91"/>
          <p:cNvSpPr/>
          <p:nvPr/>
        </p:nvSpPr>
        <p:spPr>
          <a:xfrm>
            <a:off x="87782" y="9497873"/>
            <a:ext cx="526694" cy="261518"/>
          </a:xfrm>
          <a:prstGeom prst="rect">
            <a:avLst/>
          </a:prstGeom>
          <a:noFill/>
          <a:ln/>
        </p:spPr>
        <p:txBody>
          <a:bodyPr wrap="square" lIns="0" tIns="0" rIns="0" bIns="0" rtlCol="0" anchor="ctr"/>
          <a:lstStyle/>
          <a:p>
            <a:pPr algn="ctr" indent="0" marL="0">
              <a:lnSpc>
                <a:spcPct val="120000"/>
              </a:lnSpc>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94" name="Text 92"/>
          <p:cNvSpPr/>
          <p:nvPr/>
        </p:nvSpPr>
        <p:spPr>
          <a:xfrm>
            <a:off x="702259" y="9474098"/>
            <a:ext cx="7198157" cy="309067"/>
          </a:xfrm>
          <a:prstGeom prst="rect">
            <a:avLst/>
          </a:prstGeom>
          <a:noFill/>
          <a:ln/>
        </p:spPr>
        <p:txBody>
          <a:bodyPr wrap="square" lIns="0" tIns="0" rIns="0" bIns="0" rtlCol="0" anchor="ctr"/>
          <a:lstStyle/>
          <a:p>
            <a:pPr algn="l" indent="0" marL="0">
              <a:lnSpc>
                <a:spcPct val="120000"/>
              </a:lnSpc>
              <a:buNone/>
            </a:pPr>
            <a:r>
              <a:rPr lang="en-US" sz="1450" b="1" dirty="0">
                <a:solidFill>
                  <a:srgbClr val="1F2D3A"/>
                </a:solidFill>
                <a:latin typeface="Arial" pitchFamily="34" charset="0"/>
                <a:ea typeface="Arial" pitchFamily="34" charset="-122"/>
                <a:cs typeface="Arial" pitchFamily="34" charset="-120"/>
              </a:rPr>
              <a:t>One uniform procedure for every run</a:t>
            </a:r>
            <a:endParaRPr lang="en-US" sz="1450" dirty="0"/>
          </a:p>
        </p:txBody>
      </p:sp>
      <p:sp>
        <p:nvSpPr>
          <p:cNvPr id="95" name="Text 93"/>
          <p:cNvSpPr/>
          <p:nvPr/>
        </p:nvSpPr>
        <p:spPr>
          <a:xfrm>
            <a:off x="702259" y="9806940"/>
            <a:ext cx="7724851" cy="285293"/>
          </a:xfrm>
          <a:prstGeom prst="rect">
            <a:avLst/>
          </a:prstGeom>
          <a:noFill/>
          <a:ln/>
        </p:spPr>
        <p:txBody>
          <a:bodyPr wrap="square" lIns="0" tIns="0" rIns="0" bIns="0" rtlCol="0" anchor="ctr"/>
          <a:lstStyle/>
          <a:p>
            <a:pPr algn="l" indent="0" marL="0">
              <a:lnSpc>
                <a:spcPct val="120000"/>
              </a:lnSpc>
              <a:buNone/>
            </a:pPr>
            <a:r>
              <a:rPr lang="en-US" sz="1100" dirty="0">
                <a:solidFill>
                  <a:srgbClr val="5B6570"/>
                </a:solidFill>
                <a:latin typeface="Arial" pitchFamily="34" charset="0"/>
                <a:ea typeface="Arial" pitchFamily="34" charset="-122"/>
                <a:cs typeface="Arial" pitchFamily="34" charset="-120"/>
              </a:rPr>
              <a:t>5 runs on each of 2 models for every task and condition, giving 360 runs in all</a:t>
            </a:r>
            <a:endParaRPr lang="en-US" sz="1100" dirty="0"/>
          </a:p>
        </p:txBody>
      </p:sp>
      <p:sp>
        <p:nvSpPr>
          <p:cNvPr id="96" name="Shape 94"/>
          <p:cNvSpPr/>
          <p:nvPr/>
        </p:nvSpPr>
        <p:spPr>
          <a:xfrm>
            <a:off x="2545690" y="10246766"/>
            <a:ext cx="1755648" cy="594360"/>
          </a:xfrm>
          <a:prstGeom prst="roundRect">
            <a:avLst>
              <a:gd name="adj" fmla="val 12308"/>
            </a:avLst>
          </a:prstGeom>
          <a:solidFill>
            <a:srgbClr val="F5F7F9"/>
          </a:solidFill>
          <a:ln w="12700">
            <a:solidFill>
              <a:srgbClr val="D5DBE0"/>
            </a:solidFill>
            <a:prstDash val="solid"/>
          </a:ln>
        </p:spPr>
      </p:sp>
      <p:sp>
        <p:nvSpPr>
          <p:cNvPr id="97" name="Text 95"/>
          <p:cNvSpPr/>
          <p:nvPr/>
        </p:nvSpPr>
        <p:spPr>
          <a:xfrm>
            <a:off x="2567635" y="10353751"/>
            <a:ext cx="1711757" cy="380390"/>
          </a:xfrm>
          <a:prstGeom prst="rect">
            <a:avLst/>
          </a:prstGeom>
          <a:noFill/>
          <a:ln/>
        </p:spPr>
        <p:txBody>
          <a:bodyPr wrap="square" lIns="0" tIns="0" rIns="0" bIns="0" rtlCol="0" anchor="ctr"/>
          <a:lstStyle/>
          <a:p>
            <a:pPr algn="ctr" indent="0" marL="0">
              <a:lnSpc>
                <a:spcPct val="120000"/>
              </a:lnSpc>
              <a:buNone/>
            </a:pPr>
            <a:r>
              <a:rPr lang="en-US" sz="1020" dirty="0">
                <a:solidFill>
                  <a:srgbClr val="1F2D3A"/>
                </a:solidFill>
                <a:latin typeface="Arial" pitchFamily="34" charset="0"/>
                <a:ea typeface="Arial" pitchFamily="34" charset="-122"/>
                <a:cs typeface="Arial" pitchFamily="34" charset="-120"/>
              </a:rPr>
              <a:t>the model returns</a:t>
            </a:r>
            <a:endParaRPr lang="en-US" sz="1020" dirty="0"/>
          </a:p>
          <a:p>
            <a:pPr algn="ctr" indent="0" marL="0">
              <a:lnSpc>
                <a:spcPct val="120000"/>
              </a:lnSpc>
              <a:buNone/>
            </a:pPr>
            <a:r>
              <a:rPr lang="en-US" sz="1020" dirty="0">
                <a:solidFill>
                  <a:srgbClr val="1F2D3A"/>
                </a:solidFill>
                <a:latin typeface="Arial" pitchFamily="34" charset="0"/>
                <a:ea typeface="Arial" pitchFamily="34" charset="-122"/>
                <a:cs typeface="Arial" pitchFamily="34" charset="-120"/>
              </a:rPr>
              <a:t>a complete script</a:t>
            </a:r>
            <a:endParaRPr lang="en-US" sz="1020" dirty="0"/>
          </a:p>
        </p:txBody>
      </p:sp>
      <p:sp>
        <p:nvSpPr>
          <p:cNvPr id="98" name="Shape 96"/>
          <p:cNvSpPr/>
          <p:nvPr/>
        </p:nvSpPr>
        <p:spPr>
          <a:xfrm>
            <a:off x="4520794" y="10246766"/>
            <a:ext cx="1755648" cy="594360"/>
          </a:xfrm>
          <a:prstGeom prst="roundRect">
            <a:avLst>
              <a:gd name="adj" fmla="val 12308"/>
            </a:avLst>
          </a:prstGeom>
          <a:solidFill>
            <a:srgbClr val="F5F7F9"/>
          </a:solidFill>
          <a:ln w="12700">
            <a:solidFill>
              <a:srgbClr val="D5DBE0"/>
            </a:solidFill>
            <a:prstDash val="solid"/>
          </a:ln>
        </p:spPr>
      </p:sp>
      <p:sp>
        <p:nvSpPr>
          <p:cNvPr id="99" name="Text 97"/>
          <p:cNvSpPr/>
          <p:nvPr/>
        </p:nvSpPr>
        <p:spPr>
          <a:xfrm>
            <a:off x="4542739" y="10353751"/>
            <a:ext cx="1711757" cy="380390"/>
          </a:xfrm>
          <a:prstGeom prst="rect">
            <a:avLst/>
          </a:prstGeom>
          <a:noFill/>
          <a:ln/>
        </p:spPr>
        <p:txBody>
          <a:bodyPr wrap="square" lIns="0" tIns="0" rIns="0" bIns="0" rtlCol="0" anchor="ctr"/>
          <a:lstStyle/>
          <a:p>
            <a:pPr algn="ctr" indent="0" marL="0">
              <a:lnSpc>
                <a:spcPct val="120000"/>
              </a:lnSpc>
              <a:buNone/>
            </a:pPr>
            <a:r>
              <a:rPr lang="en-US" sz="1020" dirty="0">
                <a:solidFill>
                  <a:srgbClr val="1F2D3A"/>
                </a:solidFill>
                <a:latin typeface="Arial" pitchFamily="34" charset="0"/>
                <a:ea typeface="Arial" pitchFamily="34" charset="-122"/>
                <a:cs typeface="Arial" pitchFamily="34" charset="-120"/>
              </a:rPr>
              <a:t>the script is executed</a:t>
            </a:r>
            <a:endParaRPr lang="en-US" sz="1020" dirty="0"/>
          </a:p>
          <a:p>
            <a:pPr algn="ctr" indent="0" marL="0">
              <a:lnSpc>
                <a:spcPct val="120000"/>
              </a:lnSpc>
              <a:buNone/>
            </a:pPr>
            <a:r>
              <a:rPr lang="en-US" sz="1020" dirty="0">
                <a:solidFill>
                  <a:srgbClr val="1F2D3A"/>
                </a:solidFill>
                <a:latin typeface="Arial" pitchFamily="34" charset="0"/>
                <a:ea typeface="Arial" pitchFamily="34" charset="-122"/>
                <a:cs typeface="Arial" pitchFamily="34" charset="-120"/>
              </a:rPr>
              <a:t>in the same environment</a:t>
            </a:r>
            <a:endParaRPr lang="en-US" sz="1020" dirty="0"/>
          </a:p>
        </p:txBody>
      </p:sp>
      <p:sp>
        <p:nvSpPr>
          <p:cNvPr id="100" name="Shape 98"/>
          <p:cNvSpPr/>
          <p:nvPr/>
        </p:nvSpPr>
        <p:spPr>
          <a:xfrm>
            <a:off x="6495898" y="10246766"/>
            <a:ext cx="1755648" cy="594360"/>
          </a:xfrm>
          <a:prstGeom prst="roundRect">
            <a:avLst>
              <a:gd name="adj" fmla="val 12308"/>
            </a:avLst>
          </a:prstGeom>
          <a:solidFill>
            <a:srgbClr val="F5F7F9"/>
          </a:solidFill>
          <a:ln w="12700">
            <a:solidFill>
              <a:srgbClr val="D5DBE0"/>
            </a:solidFill>
            <a:prstDash val="solid"/>
          </a:ln>
        </p:spPr>
      </p:sp>
      <p:sp>
        <p:nvSpPr>
          <p:cNvPr id="101" name="Text 99"/>
          <p:cNvSpPr/>
          <p:nvPr/>
        </p:nvSpPr>
        <p:spPr>
          <a:xfrm>
            <a:off x="6517843" y="10353751"/>
            <a:ext cx="1711757" cy="380390"/>
          </a:xfrm>
          <a:prstGeom prst="rect">
            <a:avLst/>
          </a:prstGeom>
          <a:noFill/>
          <a:ln/>
        </p:spPr>
        <p:txBody>
          <a:bodyPr wrap="square" lIns="0" tIns="0" rIns="0" bIns="0" rtlCol="0" anchor="ctr"/>
          <a:lstStyle/>
          <a:p>
            <a:pPr algn="ctr" indent="0" marL="0">
              <a:lnSpc>
                <a:spcPct val="120000"/>
              </a:lnSpc>
              <a:buNone/>
            </a:pPr>
            <a:r>
              <a:rPr lang="en-US" sz="1020" dirty="0">
                <a:solidFill>
                  <a:srgbClr val="1F2D3A"/>
                </a:solidFill>
                <a:latin typeface="Arial" pitchFamily="34" charset="0"/>
                <a:ea typeface="Arial" pitchFamily="34" charset="-122"/>
                <a:cs typeface="Arial" pitchFamily="34" charset="-120"/>
              </a:rPr>
              <a:t>the number it prints</a:t>
            </a:r>
            <a:endParaRPr lang="en-US" sz="1020" dirty="0"/>
          </a:p>
          <a:p>
            <a:pPr algn="ctr" indent="0" marL="0">
              <a:lnSpc>
                <a:spcPct val="120000"/>
              </a:lnSpc>
              <a:buNone/>
            </a:pPr>
            <a:r>
              <a:rPr lang="en-US" sz="1020" dirty="0">
                <a:solidFill>
                  <a:srgbClr val="1F2D3A"/>
                </a:solidFill>
                <a:latin typeface="Arial" pitchFamily="34" charset="0"/>
                <a:ea typeface="Arial" pitchFamily="34" charset="-122"/>
                <a:cs typeface="Arial" pitchFamily="34" charset="-120"/>
              </a:rPr>
              <a:t>is recorded</a:t>
            </a:r>
            <a:endParaRPr lang="en-US" sz="1020" dirty="0"/>
          </a:p>
        </p:txBody>
      </p:sp>
      <p:sp>
        <p:nvSpPr>
          <p:cNvPr id="102" name="Shape 100"/>
          <p:cNvSpPr/>
          <p:nvPr/>
        </p:nvSpPr>
        <p:spPr>
          <a:xfrm>
            <a:off x="4327672" y="10543946"/>
            <a:ext cx="175565" cy="0"/>
          </a:xfrm>
          <a:prstGeom prst="line">
            <a:avLst/>
          </a:prstGeom>
          <a:noFill/>
          <a:ln w="15240">
            <a:solidFill>
              <a:srgbClr val="5B6570"/>
            </a:solidFill>
            <a:prstDash val="solid"/>
            <a:tailEnd type="triangle"/>
          </a:ln>
        </p:spPr>
      </p:sp>
      <p:sp>
        <p:nvSpPr>
          <p:cNvPr id="103" name="Shape 101"/>
          <p:cNvSpPr/>
          <p:nvPr/>
        </p:nvSpPr>
        <p:spPr>
          <a:xfrm>
            <a:off x="6302776" y="10543946"/>
            <a:ext cx="175565" cy="0"/>
          </a:xfrm>
          <a:prstGeom prst="line">
            <a:avLst/>
          </a:prstGeom>
          <a:noFill/>
          <a:ln w="15240">
            <a:solidFill>
              <a:srgbClr val="5B6570"/>
            </a:solidFill>
            <a:prstDash val="solid"/>
            <a:tailEnd type="triangle"/>
          </a:ln>
        </p:spPr>
      </p:sp>
      <p:sp>
        <p:nvSpPr>
          <p:cNvPr id="104" name="Shape 102"/>
          <p:cNvSpPr/>
          <p:nvPr/>
        </p:nvSpPr>
        <p:spPr>
          <a:xfrm>
            <a:off x="227686" y="11371478"/>
            <a:ext cx="246888" cy="246888"/>
          </a:xfrm>
          <a:prstGeom prst="ellipse">
            <a:avLst/>
          </a:prstGeom>
          <a:solidFill>
            <a:srgbClr val="1F2D3A"/>
          </a:solidFill>
          <a:ln w="19050">
            <a:solidFill>
              <a:srgbClr val="FFFFFF"/>
            </a:solidFill>
            <a:prstDash val="solid"/>
          </a:ln>
        </p:spPr>
      </p:sp>
      <p:sp>
        <p:nvSpPr>
          <p:cNvPr id="105" name="Text 103"/>
          <p:cNvSpPr/>
          <p:nvPr/>
        </p:nvSpPr>
        <p:spPr>
          <a:xfrm>
            <a:off x="87782" y="11364163"/>
            <a:ext cx="526694" cy="261518"/>
          </a:xfrm>
          <a:prstGeom prst="rect">
            <a:avLst/>
          </a:prstGeom>
          <a:noFill/>
          <a:ln/>
        </p:spPr>
        <p:txBody>
          <a:bodyPr wrap="square" lIns="0" tIns="0" rIns="0" bIns="0" rtlCol="0" anchor="ctr"/>
          <a:lstStyle/>
          <a:p>
            <a:pPr algn="ctr" indent="0" marL="0">
              <a:lnSpc>
                <a:spcPct val="120000"/>
              </a:lnSpc>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106" name="Shape 104"/>
          <p:cNvSpPr/>
          <p:nvPr/>
        </p:nvSpPr>
        <p:spPr>
          <a:xfrm>
            <a:off x="702259" y="10959998"/>
            <a:ext cx="7637069" cy="879653"/>
          </a:xfrm>
          <a:prstGeom prst="roundRect">
            <a:avLst>
              <a:gd name="adj" fmla="val 8316"/>
            </a:avLst>
          </a:prstGeom>
          <a:solidFill>
            <a:srgbClr val="FFFFFF"/>
          </a:solidFill>
          <a:ln w="17780">
            <a:solidFill>
              <a:srgbClr val="1F2D3A"/>
            </a:solidFill>
            <a:prstDash val="solid"/>
          </a:ln>
        </p:spPr>
      </p:sp>
      <p:sp>
        <p:nvSpPr>
          <p:cNvPr id="107" name="Text 105"/>
          <p:cNvSpPr/>
          <p:nvPr/>
        </p:nvSpPr>
        <p:spPr>
          <a:xfrm>
            <a:off x="877824" y="11007547"/>
            <a:ext cx="7373722" cy="237744"/>
          </a:xfrm>
          <a:prstGeom prst="rect">
            <a:avLst/>
          </a:prstGeom>
          <a:noFill/>
          <a:ln/>
        </p:spPr>
        <p:txBody>
          <a:bodyPr wrap="square" lIns="0" tIns="0" rIns="0" bIns="0" rtlCol="0" anchor="ctr"/>
          <a:lstStyle/>
          <a:p>
            <a:pPr algn="l" indent="0" marL="0">
              <a:lnSpc>
                <a:spcPct val="120000"/>
              </a:lnSpc>
              <a:buNone/>
            </a:pPr>
            <a:r>
              <a:rPr lang="en-US" sz="1150" b="1" dirty="0">
                <a:solidFill>
                  <a:srgbClr val="1F2D3A"/>
                </a:solidFill>
                <a:latin typeface="Arial" pitchFamily="34" charset="0"/>
                <a:ea typeface="Arial" pitchFamily="34" charset="-122"/>
                <a:cs typeface="Arial" pitchFamily="34" charset="-120"/>
              </a:rPr>
              <a:t>The task is the unit of replication.</a:t>
            </a:r>
            <a:endParaRPr lang="en-US" sz="1150" dirty="0"/>
          </a:p>
        </p:txBody>
      </p:sp>
      <p:sp>
        <p:nvSpPr>
          <p:cNvPr id="108" name="Text 106"/>
          <p:cNvSpPr/>
          <p:nvPr/>
        </p:nvSpPr>
        <p:spPr>
          <a:xfrm>
            <a:off x="877824" y="11257178"/>
            <a:ext cx="7373722" cy="546811"/>
          </a:xfrm>
          <a:prstGeom prst="rect">
            <a:avLst/>
          </a:prstGeom>
          <a:noFill/>
          <a:ln/>
        </p:spPr>
        <p:txBody>
          <a:bodyPr wrap="square" lIns="0" tIns="0" rIns="0" bIns="0" rtlCol="0" anchor="ctr"/>
          <a:lstStyle/>
          <a:p>
            <a:pPr algn="l" indent="0" marL="0">
              <a:lnSpc>
                <a:spcPct val="120000"/>
              </a:lnSpc>
              <a:buNone/>
            </a:pPr>
            <a:r>
              <a:rPr lang="en-US" sz="1000" dirty="0">
                <a:solidFill>
                  <a:srgbClr val="1F2D3A"/>
                </a:solidFill>
                <a:latin typeface="Arial" pitchFamily="34" charset="0"/>
                <a:ea typeface="Arial" pitchFamily="34" charset="-122"/>
                <a:cs typeface="Arial" pitchFamily="34" charset="-120"/>
              </a:rPr>
              <a:t>Each task gives one proportion per condition, the share of its runs that reached the reference, and the conditions are compared across the twelve tasks with paired tests. Whether runs agreed with one another is measured separately from whether they were right.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of the specification study</dc:title>
  <dc:subject>PptxGenJS Presentation</dc:subject>
  <dc:creator>Anonymous</dc:creator>
  <cp:lastModifiedBy>Anonymous</cp:lastModifiedBy>
  <cp:revision>1</cp:revision>
  <dcterms:created xsi:type="dcterms:W3CDTF">2026-07-24T08:31:54Z</dcterms:created>
  <dcterms:modified xsi:type="dcterms:W3CDTF">2026-07-24T08:31:54Z</dcterms:modified>
</cp:coreProperties>
</file>